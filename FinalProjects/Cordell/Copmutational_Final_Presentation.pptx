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72" r:id="rId5"/>
    <p:sldId id="259" r:id="rId6"/>
    <p:sldId id="260" r:id="rId7"/>
    <p:sldId id="268" r:id="rId8"/>
    <p:sldId id="261" r:id="rId9"/>
    <p:sldId id="269" r:id="rId10"/>
    <p:sldId id="270" r:id="rId11"/>
    <p:sldId id="271" r:id="rId12"/>
    <p:sldId id="262" r:id="rId13"/>
    <p:sldId id="263" r:id="rId14"/>
    <p:sldId id="264" r:id="rId15"/>
    <p:sldId id="265" r:id="rId16"/>
    <p:sldId id="273" r:id="rId17"/>
    <p:sldId id="274" r:id="rId18"/>
    <p:sldId id="266"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8376CD-F07B-4B0B-9B03-62F85B0B1DC8}" v="61" dt="2026-05-06T18:18:52.4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90" autoAdjust="0"/>
    <p:restoredTop sz="94610"/>
  </p:normalViewPr>
  <p:slideViewPr>
    <p:cSldViewPr snapToGrid="0" snapToObjects="1">
      <p:cViewPr varScale="1">
        <p:scale>
          <a:sx n="113" d="100"/>
          <a:sy n="113" d="100"/>
        </p:scale>
        <p:origin x="231"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iggs, William (wcgriggs42)" userId="e27bd7f6-c45c-4896-8bc5-5e6085b97a97" providerId="ADAL" clId="{B523E207-1549-41CF-BA84-80726E552054}"/>
    <pc:docChg chg="delSld modSld">
      <pc:chgData name="Griggs, William (wcgriggs42)" userId="e27bd7f6-c45c-4896-8bc5-5e6085b97a97" providerId="ADAL" clId="{B523E207-1549-41CF-BA84-80726E552054}" dt="2026-05-06T18:27:02.587" v="162" actId="2696"/>
      <pc:docMkLst>
        <pc:docMk/>
      </pc:docMkLst>
      <pc:sldChg chg="modSp mod">
        <pc:chgData name="Griggs, William (wcgriggs42)" userId="e27bd7f6-c45c-4896-8bc5-5e6085b97a97" providerId="ADAL" clId="{B523E207-1549-41CF-BA84-80726E552054}" dt="2026-05-06T18:26:23.449" v="160" actId="20577"/>
        <pc:sldMkLst>
          <pc:docMk/>
          <pc:sldMk cId="0" sldId="266"/>
        </pc:sldMkLst>
        <pc:spChg chg="mod">
          <ac:chgData name="Griggs, William (wcgriggs42)" userId="e27bd7f6-c45c-4896-8bc5-5e6085b97a97" providerId="ADAL" clId="{B523E207-1549-41CF-BA84-80726E552054}" dt="2026-05-06T18:26:23.449" v="160" actId="20577"/>
          <ac:spMkLst>
            <pc:docMk/>
            <pc:sldMk cId="0" sldId="266"/>
            <ac:spMk id="3" creationId="{808702D2-4A6C-1B5B-B553-110C9C791FA3}"/>
          </ac:spMkLst>
        </pc:spChg>
      </pc:sldChg>
      <pc:sldChg chg="del">
        <pc:chgData name="Griggs, William (wcgriggs42)" userId="e27bd7f6-c45c-4896-8bc5-5e6085b97a97" providerId="ADAL" clId="{B523E207-1549-41CF-BA84-80726E552054}" dt="2026-05-06T18:26:57.917" v="161" actId="2696"/>
        <pc:sldMkLst>
          <pc:docMk/>
          <pc:sldMk cId="0" sldId="267"/>
        </pc:sldMkLst>
      </pc:sldChg>
      <pc:sldChg chg="del">
        <pc:chgData name="Griggs, William (wcgriggs42)" userId="e27bd7f6-c45c-4896-8bc5-5e6085b97a97" providerId="ADAL" clId="{B523E207-1549-41CF-BA84-80726E552054}" dt="2026-05-06T18:27:02.587" v="162" actId="2696"/>
        <pc:sldMkLst>
          <pc:docMk/>
          <pc:sldMk cId="3442667712" sldId="27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6952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Open with the big question: how can we model a neutron source that is useful while staying constrained by criticality safety? Define this as a modeling and criticality-safety presentation, not a hardware design review.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Tell the audience the talk has three parts: physics motivation, MCNP method, and results/limitations.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Emphasize that source performance is not only about making neutrons; it is about delivering useful neutrons without crossing safety limits.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3D270-DCFA-147A-9996-D3C539FA70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1332C9-9C7A-994C-6CFE-F2356D3018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5DEE12-6AFB-E32C-D26C-A9C8D673BB35}"/>
              </a:ext>
            </a:extLst>
          </p:cNvPr>
          <p:cNvSpPr>
            <a:spLocks noGrp="1"/>
          </p:cNvSpPr>
          <p:nvPr>
            <p:ph type="body" idx="1"/>
          </p:nvPr>
        </p:nvSpPr>
        <p:spPr/>
        <p:txBody>
          <a:bodyPr/>
          <a:lstStyle/>
          <a:p>
            <a:r>
              <a:rPr lang="en-US" dirty="0"/>
              <a:t>Timing: ~2 minutes. Emphasize that source performance is not only about making neutrons; it is about delivering useful neutrons without crossing safety limits.</a:t>
            </a:r>
          </a:p>
        </p:txBody>
      </p:sp>
      <p:sp>
        <p:nvSpPr>
          <p:cNvPr id="4" name="Slide Number Placeholder 3">
            <a:extLst>
              <a:ext uri="{FF2B5EF4-FFF2-40B4-BE49-F238E27FC236}">
                <a16:creationId xmlns:a16="http://schemas.microsoft.com/office/drawing/2014/main" id="{4D75AA0D-DFF9-7BD0-2372-C01F90673D90}"/>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829736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Define k_eff carefully. The diagram is conceptual: two neutrons leak away and one continues, corresponding to approximately steady multiplication.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Use the pi example to make Monte Carlo familiar. Then say MCNP replaces random points with random neutron histories governed by interaction probabilities.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BD860-0AAE-93B6-CBBE-B6B27F5C68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B28F2-2C1D-E702-2879-B3EEA82104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A0FF35-A76D-4332-2928-AD661BDFAA82}"/>
              </a:ext>
            </a:extLst>
          </p:cNvPr>
          <p:cNvSpPr>
            <a:spLocks noGrp="1"/>
          </p:cNvSpPr>
          <p:nvPr>
            <p:ph type="body" idx="1"/>
          </p:nvPr>
        </p:nvSpPr>
        <p:spPr/>
        <p:txBody>
          <a:bodyPr/>
          <a:lstStyle/>
          <a:p>
            <a:r>
              <a:rPr lang="en-US" dirty="0"/>
              <a:t>Timing: ~1.5 minutes. Keep this high-level. Avoid reading code line-by-line. The goal is that the audience understands the structure of an input file.</a:t>
            </a:r>
          </a:p>
        </p:txBody>
      </p:sp>
      <p:sp>
        <p:nvSpPr>
          <p:cNvPr id="4" name="Slide Number Placeholder 3">
            <a:extLst>
              <a:ext uri="{FF2B5EF4-FFF2-40B4-BE49-F238E27FC236}">
                <a16:creationId xmlns:a16="http://schemas.microsoft.com/office/drawing/2014/main" id="{815E9A2F-B12E-3E22-7DB1-545CA6BDC000}"/>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1367147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Keep this high-level. Avoid reading code line-by-line. The goal is that the audience understands the structure of an input file.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5EAF9-C339-E3A7-278D-ED8209108D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AD93FE-DAE1-91E4-35E3-024DEA067D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D6B251-FB07-8973-0C51-1EFB190BEC09}"/>
              </a:ext>
            </a:extLst>
          </p:cNvPr>
          <p:cNvSpPr>
            <a:spLocks noGrp="1"/>
          </p:cNvSpPr>
          <p:nvPr>
            <p:ph type="body" idx="1"/>
          </p:nvPr>
        </p:nvSpPr>
        <p:spPr/>
        <p:txBody>
          <a:bodyPr/>
          <a:lstStyle/>
          <a:p>
            <a:r>
              <a:rPr lang="en-US" dirty="0"/>
              <a:t>Timing: ~1.5 minutes. Keep this high-level. Avoid reading code line-by-line. The goal is that the audience understands the structure of an input file.</a:t>
            </a:r>
          </a:p>
        </p:txBody>
      </p:sp>
      <p:sp>
        <p:nvSpPr>
          <p:cNvPr id="4" name="Slide Number Placeholder 3">
            <a:extLst>
              <a:ext uri="{FF2B5EF4-FFF2-40B4-BE49-F238E27FC236}">
                <a16:creationId xmlns:a16="http://schemas.microsoft.com/office/drawing/2014/main" id="{DB03D820-7D8A-34C3-0598-D918FA2E2403}"/>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7824355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50E07-C66A-1CEE-1DC3-2A3CDC9A89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63DC9E-75FD-CD2F-9BB8-751F39A350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23E562-B216-A9AE-F875-3F4AFE4CE456}"/>
              </a:ext>
            </a:extLst>
          </p:cNvPr>
          <p:cNvSpPr>
            <a:spLocks noGrp="1"/>
          </p:cNvSpPr>
          <p:nvPr>
            <p:ph type="body" idx="1"/>
          </p:nvPr>
        </p:nvSpPr>
        <p:spPr/>
        <p:txBody>
          <a:bodyPr/>
          <a:lstStyle/>
          <a:p>
            <a:r>
              <a:rPr lang="en-US" dirty="0"/>
              <a:t>Timing: ~1.5 minutes. Keep this high-level. Avoid reading code line-by-line. The goal is that the audience understands the structure of an input file.</a:t>
            </a:r>
          </a:p>
        </p:txBody>
      </p:sp>
      <p:sp>
        <p:nvSpPr>
          <p:cNvPr id="4" name="Slide Number Placeholder 3">
            <a:extLst>
              <a:ext uri="{FF2B5EF4-FFF2-40B4-BE49-F238E27FC236}">
                <a16:creationId xmlns:a16="http://schemas.microsoft.com/office/drawing/2014/main" id="{EBE46814-3B39-07AC-278E-FBB9F03D8A6F}"/>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8754787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D104B-E95C-BF91-DBBC-8FEC30E6C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59A150-3C77-01C2-F854-4920D015BA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B8D29F-2F0F-3CA2-E506-9A6F99C8CCE6}"/>
              </a:ext>
            </a:extLst>
          </p:cNvPr>
          <p:cNvSpPr>
            <a:spLocks noGrp="1"/>
          </p:cNvSpPr>
          <p:nvPr>
            <p:ph type="body" idx="1"/>
          </p:nvPr>
        </p:nvSpPr>
        <p:spPr/>
        <p:txBody>
          <a:bodyPr/>
          <a:lstStyle/>
          <a:p>
            <a:r>
              <a:rPr lang="en-US" dirty="0"/>
              <a:t>Timing: ~1.5 minutes. Keep this high-level. Avoid reading code line-by-line. The goal is that the audience understands the structure of an input file.</a:t>
            </a:r>
          </a:p>
        </p:txBody>
      </p:sp>
      <p:sp>
        <p:nvSpPr>
          <p:cNvPr id="4" name="Slide Number Placeholder 3">
            <a:extLst>
              <a:ext uri="{FF2B5EF4-FFF2-40B4-BE49-F238E27FC236}">
                <a16:creationId xmlns:a16="http://schemas.microsoft.com/office/drawing/2014/main" id="{ADAACCA3-3A31-1CBD-ED8E-A079A916C808}"/>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8593665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Clarify that the model is intentionally idealized, so conclusions are about simulation trends, not a final source design.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Explain how you changed one parameter at a time when possible, but mass conservation couples variables. Emphasize the value of systematic comparison.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Keep this qualitative. Avoid listing exact dimensions. The useful takeaway is the competition between moderation and leakage under a mass constraint.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State the numerical results as reported, but emphasize that exceeding unity is a safety-relevant flag, not a design goal. Use this slide to transition into limitations.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A4669-4DEC-C08A-3E92-368D248605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777DE5-A39E-2D89-13AB-1470FBDA0A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221EFB-301B-92AA-E274-F6A6EB757DFB}"/>
              </a:ext>
            </a:extLst>
          </p:cNvPr>
          <p:cNvSpPr>
            <a:spLocks noGrp="1"/>
          </p:cNvSpPr>
          <p:nvPr>
            <p:ph type="body" idx="1"/>
          </p:nvPr>
        </p:nvSpPr>
        <p:spPr/>
        <p:txBody>
          <a:bodyPr/>
          <a:lstStyle/>
          <a:p>
            <a:r>
              <a:rPr lang="en-US" dirty="0"/>
              <a:t>Timing: ~2 minutes. State the numerical results as reported, but emphasize that exceeding unity is a safety-relevant flag, not a design goal. Use this slide to transition into limitations.</a:t>
            </a:r>
          </a:p>
        </p:txBody>
      </p:sp>
      <p:sp>
        <p:nvSpPr>
          <p:cNvPr id="4" name="Slide Number Placeholder 3">
            <a:extLst>
              <a:ext uri="{FF2B5EF4-FFF2-40B4-BE49-F238E27FC236}">
                <a16:creationId xmlns:a16="http://schemas.microsoft.com/office/drawing/2014/main" id="{A9E853C8-F909-8DC0-691C-E8824486FD55}"/>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5444895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605B8-C4CE-56E1-B6FE-2505BB2C4D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B8B74E-30F8-D6DC-39E6-13BDC8D10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076F0E-55D3-2AEA-3221-7EBAA4C96CC1}"/>
              </a:ext>
            </a:extLst>
          </p:cNvPr>
          <p:cNvSpPr>
            <a:spLocks noGrp="1"/>
          </p:cNvSpPr>
          <p:nvPr>
            <p:ph type="body" idx="1"/>
          </p:nvPr>
        </p:nvSpPr>
        <p:spPr/>
        <p:txBody>
          <a:bodyPr/>
          <a:lstStyle/>
          <a:p>
            <a:r>
              <a:rPr lang="en-US" dirty="0"/>
              <a:t>Timing: ~2 minutes. State the numerical results as reported, but emphasize that exceeding unity is a safety-relevant flag, not a design goal. Use this slide to transition into limitations.</a:t>
            </a:r>
          </a:p>
        </p:txBody>
      </p:sp>
      <p:sp>
        <p:nvSpPr>
          <p:cNvPr id="4" name="Slide Number Placeholder 3">
            <a:extLst>
              <a:ext uri="{FF2B5EF4-FFF2-40B4-BE49-F238E27FC236}">
                <a16:creationId xmlns:a16="http://schemas.microsoft.com/office/drawing/2014/main" id="{651A0DBF-3D30-1E50-D32F-4C44083C857B}"/>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8800257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This is the most important safety framing slide. Make clear that MCNP results are inputs into a larger safety process, not standalone authorization.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94360" y="777240"/>
            <a:ext cx="6766560" cy="1645920"/>
          </a:xfrm>
          <a:prstGeom prst="rect">
            <a:avLst/>
          </a:prstGeom>
          <a:noFill/>
          <a:ln/>
        </p:spPr>
        <p:txBody>
          <a:bodyPr wrap="square" lIns="0" tIns="0" rIns="0" bIns="0" rtlCol="0" anchor="ctr"/>
          <a:lstStyle/>
          <a:p>
            <a:pPr marL="0" indent="0">
              <a:buNone/>
            </a:pPr>
            <a:r>
              <a:rPr lang="en-US" sz="3400" b="1" dirty="0">
                <a:solidFill>
                  <a:srgbClr val="17324D"/>
                </a:solidFill>
                <a:latin typeface="Aptos Display" pitchFamily="34" charset="0"/>
                <a:ea typeface="Aptos Display" pitchFamily="34" charset="-122"/>
                <a:cs typeface="Aptos Display" pitchFamily="34" charset="-120"/>
              </a:rPr>
              <a:t>Study of a</a:t>
            </a:r>
            <a:endParaRPr lang="en-US" sz="3400" dirty="0"/>
          </a:p>
          <a:p>
            <a:pPr marL="0" indent="0">
              <a:buNone/>
            </a:pPr>
            <a:r>
              <a:rPr lang="en-US" sz="3400" b="1" dirty="0">
                <a:solidFill>
                  <a:srgbClr val="17324D"/>
                </a:solidFill>
                <a:latin typeface="Aptos Display" pitchFamily="34" charset="0"/>
                <a:ea typeface="Aptos Display" pitchFamily="34" charset="-122"/>
                <a:cs typeface="Aptos Display" pitchFamily="34" charset="-120"/>
              </a:rPr>
              <a:t>Low-Enriched Uranium</a:t>
            </a:r>
            <a:endParaRPr lang="en-US" sz="3400" dirty="0"/>
          </a:p>
          <a:p>
            <a:pPr marL="0" indent="0">
              <a:buNone/>
            </a:pPr>
            <a:r>
              <a:rPr lang="en-US" sz="3400" b="1" dirty="0">
                <a:solidFill>
                  <a:srgbClr val="17324D"/>
                </a:solidFill>
                <a:latin typeface="Aptos Display" pitchFamily="34" charset="0"/>
                <a:ea typeface="Aptos Display" pitchFamily="34" charset="-122"/>
                <a:cs typeface="Aptos Display" pitchFamily="34" charset="-120"/>
              </a:rPr>
              <a:t>Neutron Source Concept Using MCNP Code</a:t>
            </a:r>
            <a:endParaRPr lang="en-US" sz="3400" dirty="0"/>
          </a:p>
        </p:txBody>
      </p:sp>
      <p:sp>
        <p:nvSpPr>
          <p:cNvPr id="9" name="Text 7"/>
          <p:cNvSpPr/>
          <p:nvPr/>
        </p:nvSpPr>
        <p:spPr>
          <a:xfrm>
            <a:off x="621792" y="5074920"/>
            <a:ext cx="10515600" cy="502920"/>
          </a:xfrm>
          <a:prstGeom prst="rect">
            <a:avLst/>
          </a:prstGeom>
          <a:noFill/>
          <a:ln/>
        </p:spPr>
        <p:txBody>
          <a:bodyPr wrap="square" lIns="0" tIns="0" rIns="0" bIns="0" rtlCol="0" anchor="ctr"/>
          <a:lstStyle/>
          <a:p>
            <a:pPr marL="0" indent="0">
              <a:buNone/>
            </a:pPr>
            <a:r>
              <a:rPr lang="en-US" sz="1900" dirty="0">
                <a:solidFill>
                  <a:srgbClr val="1C2430"/>
                </a:solidFill>
              </a:rPr>
              <a:t>Cordell Griggs</a:t>
            </a:r>
            <a:endParaRPr lang="en-US" sz="1900" dirty="0"/>
          </a:p>
        </p:txBody>
      </p:sp>
      <p:pic>
        <p:nvPicPr>
          <p:cNvPr id="13" name="Picture 12">
            <a:extLst>
              <a:ext uri="{FF2B5EF4-FFF2-40B4-BE49-F238E27FC236}">
                <a16:creationId xmlns:a16="http://schemas.microsoft.com/office/drawing/2014/main" id="{FF885096-3F12-328F-F1C7-79024D416CCA}"/>
              </a:ext>
            </a:extLst>
          </p:cNvPr>
          <p:cNvPicPr>
            <a:picLocks noChangeAspect="1"/>
          </p:cNvPicPr>
          <p:nvPr/>
        </p:nvPicPr>
        <p:blipFill>
          <a:blip r:embed="rId3"/>
          <a:stretch>
            <a:fillRect/>
          </a:stretch>
        </p:blipFill>
        <p:spPr>
          <a:xfrm>
            <a:off x="6871358" y="1510392"/>
            <a:ext cx="3846727" cy="390159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534761"/>
            <a:ext cx="8046720" cy="411480"/>
          </a:xfrm>
          <a:prstGeom prst="rect">
            <a:avLst/>
          </a:prstGeom>
          <a:noFill/>
          <a:ln/>
        </p:spPr>
        <p:txBody>
          <a:bodyPr wrap="square" lIns="0" tIns="0" rIns="0" bIns="0" rtlCol="0" anchor="ctr"/>
          <a:lstStyle/>
          <a:p>
            <a:pPr marL="0" indent="0">
              <a:buNone/>
            </a:pPr>
            <a:r>
              <a:rPr lang="en-US" sz="4000" b="1" dirty="0">
                <a:solidFill>
                  <a:srgbClr val="17324D"/>
                </a:solidFill>
                <a:latin typeface="Aptos Display" pitchFamily="34" charset="0"/>
                <a:ea typeface="Aptos Display" pitchFamily="34" charset="-122"/>
                <a:cs typeface="Aptos Display" pitchFamily="34" charset="-120"/>
              </a:rPr>
              <a:t>Roadmap</a:t>
            </a:r>
            <a:endParaRPr lang="en-US" sz="4000" dirty="0"/>
          </a:p>
        </p:txBody>
      </p:sp>
      <p:sp>
        <p:nvSpPr>
          <p:cNvPr id="4" name="Shape 2"/>
          <p:cNvSpPr/>
          <p:nvPr/>
        </p:nvSpPr>
        <p:spPr>
          <a:xfrm>
            <a:off x="502920" y="1033272"/>
            <a:ext cx="11155680" cy="0"/>
          </a:xfrm>
          <a:prstGeom prst="line">
            <a:avLst/>
          </a:prstGeom>
          <a:noFill/>
          <a:ln w="15240">
            <a:solidFill>
              <a:srgbClr val="DCEBFA"/>
            </a:solidFill>
            <a:prstDash val="solid"/>
          </a:ln>
        </p:spPr>
        <p:txBody>
          <a:bodyPr/>
          <a:lstStyle/>
          <a:p>
            <a:endParaRPr lang="en-US"/>
          </a:p>
        </p:txBody>
      </p:sp>
      <p:sp>
        <p:nvSpPr>
          <p:cNvPr id="5" name="Shape 3"/>
          <p:cNvSpPr/>
          <p:nvPr/>
        </p:nvSpPr>
        <p:spPr>
          <a:xfrm>
            <a:off x="731520" y="1463040"/>
            <a:ext cx="3063240" cy="1325880"/>
          </a:xfrm>
          <a:prstGeom prst="roundRect">
            <a:avLst>
              <a:gd name="adj" fmla="val 5517"/>
            </a:avLst>
          </a:prstGeom>
          <a:solidFill>
            <a:srgbClr val="DCEBFA"/>
          </a:solidFill>
          <a:ln w="15240">
            <a:solidFill>
              <a:srgbClr val="2B6CB0"/>
            </a:solidFill>
            <a:prstDash val="solid"/>
          </a:ln>
        </p:spPr>
        <p:txBody>
          <a:bodyPr/>
          <a:lstStyle/>
          <a:p>
            <a:endParaRPr lang="en-US"/>
          </a:p>
        </p:txBody>
      </p:sp>
      <p:sp>
        <p:nvSpPr>
          <p:cNvPr id="6" name="Text 4"/>
          <p:cNvSpPr/>
          <p:nvPr/>
        </p:nvSpPr>
        <p:spPr>
          <a:xfrm>
            <a:off x="841248" y="1554480"/>
            <a:ext cx="2843784" cy="1143000"/>
          </a:xfrm>
          <a:prstGeom prst="rect">
            <a:avLst/>
          </a:prstGeom>
          <a:noFill/>
          <a:ln/>
        </p:spPr>
        <p:txBody>
          <a:bodyPr wrap="square" lIns="0" tIns="0" rIns="0" bIns="0" rtlCol="0" anchor="ctr">
            <a:normAutofit/>
          </a:bodyPr>
          <a:lstStyle/>
          <a:p>
            <a:pPr marL="0" indent="0" algn="ctr">
              <a:buNone/>
            </a:pPr>
            <a:r>
              <a:rPr lang="en-US" sz="1600" b="1" dirty="0">
                <a:solidFill>
                  <a:srgbClr val="1C2430"/>
                </a:solidFill>
              </a:rPr>
              <a:t>1</a:t>
            </a:r>
            <a:endParaRPr lang="en-US" sz="1600" dirty="0"/>
          </a:p>
          <a:p>
            <a:pPr marL="0" indent="0" algn="ctr">
              <a:buNone/>
            </a:pPr>
            <a:r>
              <a:rPr lang="en-US" sz="1600" b="1" u="sng" dirty="0">
                <a:solidFill>
                  <a:srgbClr val="1C2430"/>
                </a:solidFill>
              </a:rPr>
              <a:t>Motivation &amp; Goal</a:t>
            </a:r>
            <a:endParaRPr lang="en-US" sz="1600" u="sng" dirty="0"/>
          </a:p>
          <a:p>
            <a:pPr marL="0" indent="0" algn="ctr">
              <a:buNone/>
            </a:pPr>
            <a:r>
              <a:rPr lang="en-US" sz="1600" b="1" dirty="0">
                <a:solidFill>
                  <a:srgbClr val="1C2430"/>
                </a:solidFill>
              </a:rPr>
              <a:t>Importance of neutrons and source efficiency </a:t>
            </a:r>
            <a:endParaRPr lang="en-US" sz="1600" dirty="0"/>
          </a:p>
        </p:txBody>
      </p:sp>
      <p:sp>
        <p:nvSpPr>
          <p:cNvPr id="7" name="Shape 5"/>
          <p:cNvSpPr/>
          <p:nvPr/>
        </p:nvSpPr>
        <p:spPr>
          <a:xfrm>
            <a:off x="4480560" y="1463040"/>
            <a:ext cx="3063240" cy="1325880"/>
          </a:xfrm>
          <a:prstGeom prst="roundRect">
            <a:avLst>
              <a:gd name="adj" fmla="val 5517"/>
            </a:avLst>
          </a:prstGeom>
          <a:solidFill>
            <a:srgbClr val="DCEBFA"/>
          </a:solidFill>
          <a:ln w="15240">
            <a:solidFill>
              <a:srgbClr val="2B6CB0"/>
            </a:solidFill>
            <a:prstDash val="solid"/>
          </a:ln>
        </p:spPr>
        <p:txBody>
          <a:bodyPr/>
          <a:lstStyle/>
          <a:p>
            <a:endParaRPr lang="en-US"/>
          </a:p>
        </p:txBody>
      </p:sp>
      <p:sp>
        <p:nvSpPr>
          <p:cNvPr id="8" name="Text 6"/>
          <p:cNvSpPr/>
          <p:nvPr/>
        </p:nvSpPr>
        <p:spPr>
          <a:xfrm>
            <a:off x="4590288" y="1554480"/>
            <a:ext cx="2843784" cy="1143000"/>
          </a:xfrm>
          <a:prstGeom prst="rect">
            <a:avLst/>
          </a:prstGeom>
          <a:noFill/>
          <a:ln/>
        </p:spPr>
        <p:txBody>
          <a:bodyPr wrap="square" lIns="0" tIns="0" rIns="0" bIns="0" rtlCol="0" anchor="ctr">
            <a:normAutofit/>
          </a:bodyPr>
          <a:lstStyle/>
          <a:p>
            <a:pPr marL="0" indent="0" algn="ctr">
              <a:buNone/>
            </a:pPr>
            <a:r>
              <a:rPr lang="en-US" sz="1600" b="1" dirty="0">
                <a:solidFill>
                  <a:srgbClr val="1C2430"/>
                </a:solidFill>
              </a:rPr>
              <a:t>2</a:t>
            </a:r>
            <a:endParaRPr lang="en-US" sz="1600" dirty="0"/>
          </a:p>
          <a:p>
            <a:pPr marL="0" indent="0" algn="ctr">
              <a:buNone/>
            </a:pPr>
            <a:r>
              <a:rPr lang="en-US" sz="1600" b="1" u="sng" dirty="0">
                <a:solidFill>
                  <a:srgbClr val="1C2430"/>
                </a:solidFill>
              </a:rPr>
              <a:t>Background Concepts</a:t>
            </a:r>
            <a:endParaRPr lang="en-US" sz="1600" u="sng" dirty="0"/>
          </a:p>
          <a:p>
            <a:pPr marL="0" indent="0" algn="ctr">
              <a:buNone/>
            </a:pPr>
            <a:r>
              <a:rPr lang="en-US" sz="1600" b="1" dirty="0">
                <a:solidFill>
                  <a:srgbClr val="1C2430"/>
                </a:solidFill>
              </a:rPr>
              <a:t>Chain reactions and how to quantify source efficiency</a:t>
            </a:r>
            <a:endParaRPr lang="en-US" sz="1600" dirty="0"/>
          </a:p>
        </p:txBody>
      </p:sp>
      <p:sp>
        <p:nvSpPr>
          <p:cNvPr id="9" name="Shape 7"/>
          <p:cNvSpPr/>
          <p:nvPr/>
        </p:nvSpPr>
        <p:spPr>
          <a:xfrm>
            <a:off x="8229600" y="1463040"/>
            <a:ext cx="3063240" cy="1325880"/>
          </a:xfrm>
          <a:prstGeom prst="roundRect">
            <a:avLst>
              <a:gd name="adj" fmla="val 5517"/>
            </a:avLst>
          </a:prstGeom>
          <a:solidFill>
            <a:srgbClr val="DCEBFA"/>
          </a:solidFill>
          <a:ln w="15240">
            <a:solidFill>
              <a:srgbClr val="2B6CB0"/>
            </a:solidFill>
            <a:prstDash val="solid"/>
          </a:ln>
        </p:spPr>
        <p:txBody>
          <a:bodyPr/>
          <a:lstStyle/>
          <a:p>
            <a:endParaRPr lang="en-US"/>
          </a:p>
        </p:txBody>
      </p:sp>
      <p:sp>
        <p:nvSpPr>
          <p:cNvPr id="10" name="Text 8"/>
          <p:cNvSpPr/>
          <p:nvPr/>
        </p:nvSpPr>
        <p:spPr>
          <a:xfrm>
            <a:off x="8339328" y="1554480"/>
            <a:ext cx="2843784" cy="1143000"/>
          </a:xfrm>
          <a:prstGeom prst="rect">
            <a:avLst/>
          </a:prstGeom>
          <a:noFill/>
          <a:ln/>
        </p:spPr>
        <p:txBody>
          <a:bodyPr wrap="square" lIns="0" tIns="0" rIns="0" bIns="0" rtlCol="0" anchor="ctr">
            <a:normAutofit/>
          </a:bodyPr>
          <a:lstStyle/>
          <a:p>
            <a:pPr marL="0" indent="0" algn="ctr">
              <a:buNone/>
            </a:pPr>
            <a:r>
              <a:rPr lang="en-US" sz="1600" b="1" dirty="0">
                <a:solidFill>
                  <a:srgbClr val="1C2430"/>
                </a:solidFill>
              </a:rPr>
              <a:t>3</a:t>
            </a:r>
            <a:endParaRPr lang="en-US" sz="1600" dirty="0"/>
          </a:p>
          <a:p>
            <a:pPr marL="0" indent="0" algn="ctr">
              <a:buNone/>
            </a:pPr>
            <a:r>
              <a:rPr lang="en-US" sz="1600" b="1" u="sng" dirty="0">
                <a:solidFill>
                  <a:srgbClr val="1C2430"/>
                </a:solidFill>
              </a:rPr>
              <a:t>Tool</a:t>
            </a:r>
            <a:endParaRPr lang="en-US" sz="1600" u="sng" dirty="0"/>
          </a:p>
          <a:p>
            <a:pPr marL="0" indent="0" algn="ctr">
              <a:buNone/>
            </a:pPr>
            <a:r>
              <a:rPr lang="en-US" sz="1600" b="1" dirty="0">
                <a:solidFill>
                  <a:srgbClr val="1C2430"/>
                </a:solidFill>
              </a:rPr>
              <a:t>Monte Carlo method and MCNP inputs</a:t>
            </a:r>
            <a:endParaRPr lang="en-US" sz="1600" dirty="0"/>
          </a:p>
        </p:txBody>
      </p:sp>
      <p:sp>
        <p:nvSpPr>
          <p:cNvPr id="11" name="Shape 9"/>
          <p:cNvSpPr/>
          <p:nvPr/>
        </p:nvSpPr>
        <p:spPr>
          <a:xfrm>
            <a:off x="731520" y="3429000"/>
            <a:ext cx="3063240" cy="1325880"/>
          </a:xfrm>
          <a:prstGeom prst="roundRect">
            <a:avLst>
              <a:gd name="adj" fmla="val 5517"/>
            </a:avLst>
          </a:prstGeom>
          <a:solidFill>
            <a:srgbClr val="E6F4EA"/>
          </a:solidFill>
          <a:ln w="15240">
            <a:solidFill>
              <a:srgbClr val="2F855A"/>
            </a:solidFill>
            <a:prstDash val="solid"/>
          </a:ln>
        </p:spPr>
        <p:txBody>
          <a:bodyPr/>
          <a:lstStyle/>
          <a:p>
            <a:endParaRPr lang="en-US"/>
          </a:p>
        </p:txBody>
      </p:sp>
      <p:sp>
        <p:nvSpPr>
          <p:cNvPr id="12" name="Text 10"/>
          <p:cNvSpPr/>
          <p:nvPr/>
        </p:nvSpPr>
        <p:spPr>
          <a:xfrm>
            <a:off x="841248" y="3520440"/>
            <a:ext cx="2843784" cy="1143000"/>
          </a:xfrm>
          <a:prstGeom prst="rect">
            <a:avLst/>
          </a:prstGeom>
          <a:noFill/>
          <a:ln/>
        </p:spPr>
        <p:txBody>
          <a:bodyPr wrap="square" lIns="0" tIns="0" rIns="0" bIns="0" rtlCol="0" anchor="ctr">
            <a:normAutofit lnSpcReduction="10000"/>
          </a:bodyPr>
          <a:lstStyle/>
          <a:p>
            <a:pPr marL="0" indent="0" algn="ctr">
              <a:buNone/>
            </a:pPr>
            <a:r>
              <a:rPr lang="en-US" sz="1600" b="1" dirty="0">
                <a:solidFill>
                  <a:srgbClr val="1C2430"/>
                </a:solidFill>
              </a:rPr>
              <a:t>4</a:t>
            </a:r>
            <a:endParaRPr lang="en-US" sz="1600" dirty="0"/>
          </a:p>
          <a:p>
            <a:pPr marL="0" indent="0" algn="ctr">
              <a:buNone/>
            </a:pPr>
            <a:r>
              <a:rPr lang="en-US" sz="1600" b="1" u="sng" dirty="0">
                <a:solidFill>
                  <a:srgbClr val="1C2430"/>
                </a:solidFill>
              </a:rPr>
              <a:t>Study</a:t>
            </a:r>
            <a:endParaRPr lang="en-US" sz="1600" u="sng" dirty="0"/>
          </a:p>
          <a:p>
            <a:pPr marL="0" indent="0" algn="ctr">
              <a:buNone/>
            </a:pPr>
            <a:r>
              <a:rPr lang="en-US" sz="1600" b="1" dirty="0">
                <a:solidFill>
                  <a:srgbClr val="1C2430"/>
                </a:solidFill>
              </a:rPr>
              <a:t>Procedure for optimizing source geometry &amp; Modeling Constraints</a:t>
            </a:r>
            <a:endParaRPr lang="en-US" sz="1600" dirty="0"/>
          </a:p>
        </p:txBody>
      </p:sp>
      <p:sp>
        <p:nvSpPr>
          <p:cNvPr id="13" name="Shape 11"/>
          <p:cNvSpPr/>
          <p:nvPr/>
        </p:nvSpPr>
        <p:spPr>
          <a:xfrm>
            <a:off x="4480560" y="3429000"/>
            <a:ext cx="3063240" cy="1325880"/>
          </a:xfrm>
          <a:prstGeom prst="roundRect">
            <a:avLst>
              <a:gd name="adj" fmla="val 5517"/>
            </a:avLst>
          </a:prstGeom>
          <a:solidFill>
            <a:srgbClr val="E6F4EA"/>
          </a:solidFill>
          <a:ln w="15240">
            <a:solidFill>
              <a:srgbClr val="2F855A"/>
            </a:solidFill>
            <a:prstDash val="solid"/>
          </a:ln>
        </p:spPr>
        <p:txBody>
          <a:bodyPr/>
          <a:lstStyle/>
          <a:p>
            <a:endParaRPr lang="en-US"/>
          </a:p>
        </p:txBody>
      </p:sp>
      <p:sp>
        <p:nvSpPr>
          <p:cNvPr id="14" name="Text 12"/>
          <p:cNvSpPr/>
          <p:nvPr/>
        </p:nvSpPr>
        <p:spPr>
          <a:xfrm>
            <a:off x="4590288" y="3520440"/>
            <a:ext cx="2843784" cy="1143000"/>
          </a:xfrm>
          <a:prstGeom prst="rect">
            <a:avLst/>
          </a:prstGeom>
          <a:noFill/>
          <a:ln/>
        </p:spPr>
        <p:txBody>
          <a:bodyPr wrap="square" lIns="0" tIns="0" rIns="0" bIns="0" rtlCol="0" anchor="ctr">
            <a:normAutofit lnSpcReduction="10000"/>
          </a:bodyPr>
          <a:lstStyle/>
          <a:p>
            <a:pPr marL="0" indent="0" algn="ctr">
              <a:buNone/>
            </a:pPr>
            <a:r>
              <a:rPr lang="en-US" sz="1600" b="1" dirty="0">
                <a:solidFill>
                  <a:srgbClr val="1C2430"/>
                </a:solidFill>
              </a:rPr>
              <a:t>5</a:t>
            </a:r>
            <a:endParaRPr lang="en-US" sz="1600" dirty="0"/>
          </a:p>
          <a:p>
            <a:pPr marL="0" indent="0" algn="ctr">
              <a:buNone/>
            </a:pPr>
            <a:r>
              <a:rPr lang="en-US" sz="1600" b="1" u="sng" dirty="0">
                <a:solidFill>
                  <a:srgbClr val="1C2430"/>
                </a:solidFill>
              </a:rPr>
              <a:t>Findings</a:t>
            </a:r>
            <a:endParaRPr lang="en-US" sz="1600" u="sng" dirty="0"/>
          </a:p>
          <a:p>
            <a:pPr algn="ctr"/>
            <a:r>
              <a:rPr lang="en-US" sz="1600" b="1" dirty="0">
                <a:solidFill>
                  <a:srgbClr val="1C2430"/>
                </a:solidFill>
              </a:rPr>
              <a:t>Qualitative trends and quantitative efficiency outcomes</a:t>
            </a:r>
            <a:endParaRPr lang="en-US" sz="1600" dirty="0"/>
          </a:p>
        </p:txBody>
      </p:sp>
      <p:sp>
        <p:nvSpPr>
          <p:cNvPr id="15" name="Shape 13"/>
          <p:cNvSpPr/>
          <p:nvPr/>
        </p:nvSpPr>
        <p:spPr>
          <a:xfrm>
            <a:off x="8229600" y="3429000"/>
            <a:ext cx="3063240" cy="1325880"/>
          </a:xfrm>
          <a:prstGeom prst="roundRect">
            <a:avLst>
              <a:gd name="adj" fmla="val 5517"/>
            </a:avLst>
          </a:prstGeom>
          <a:solidFill>
            <a:srgbClr val="E6F4EA"/>
          </a:solidFill>
          <a:ln w="15240">
            <a:solidFill>
              <a:srgbClr val="2F855A"/>
            </a:solidFill>
            <a:prstDash val="solid"/>
          </a:ln>
        </p:spPr>
        <p:txBody>
          <a:bodyPr/>
          <a:lstStyle/>
          <a:p>
            <a:endParaRPr lang="en-US"/>
          </a:p>
        </p:txBody>
      </p:sp>
      <p:sp>
        <p:nvSpPr>
          <p:cNvPr id="16" name="Text 14"/>
          <p:cNvSpPr/>
          <p:nvPr/>
        </p:nvSpPr>
        <p:spPr>
          <a:xfrm>
            <a:off x="8339328" y="3520440"/>
            <a:ext cx="2843784" cy="1143000"/>
          </a:xfrm>
          <a:prstGeom prst="rect">
            <a:avLst/>
          </a:prstGeom>
          <a:noFill/>
          <a:ln/>
        </p:spPr>
        <p:txBody>
          <a:bodyPr wrap="square" lIns="0" tIns="0" rIns="0" bIns="0" rtlCol="0" anchor="ctr">
            <a:normAutofit/>
          </a:bodyPr>
          <a:lstStyle/>
          <a:p>
            <a:pPr marL="0" indent="0" algn="ctr">
              <a:buNone/>
            </a:pPr>
            <a:r>
              <a:rPr lang="en-US" sz="1600" b="1" dirty="0">
                <a:solidFill>
                  <a:srgbClr val="1C2430"/>
                </a:solidFill>
              </a:rPr>
              <a:t>6</a:t>
            </a:r>
            <a:endParaRPr lang="en-US" sz="1600" dirty="0"/>
          </a:p>
          <a:p>
            <a:pPr marL="0" indent="0" algn="ctr">
              <a:buNone/>
            </a:pPr>
            <a:r>
              <a:rPr lang="en-US" sz="1600" b="1" u="sng" dirty="0">
                <a:solidFill>
                  <a:srgbClr val="1C2430"/>
                </a:solidFill>
              </a:rPr>
              <a:t>Conclusion</a:t>
            </a:r>
            <a:endParaRPr lang="en-US" sz="1600" u="sng" dirty="0"/>
          </a:p>
          <a:p>
            <a:pPr marL="0" indent="0" algn="ctr">
              <a:buNone/>
            </a:pPr>
            <a:r>
              <a:rPr lang="en-US" sz="1600" b="1" dirty="0">
                <a:solidFill>
                  <a:srgbClr val="1C2430"/>
                </a:solidFill>
              </a:rPr>
              <a:t>Can this source concept be implemented in real-world?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74320"/>
            <a:ext cx="8046720" cy="411480"/>
          </a:xfrm>
          <a:prstGeom prst="rect">
            <a:avLst/>
          </a:prstGeom>
          <a:noFill/>
          <a:ln/>
        </p:spPr>
        <p:txBody>
          <a:bodyPr wrap="square" lIns="0" tIns="0" rIns="0" bIns="0" rtlCol="0" anchor="ctr"/>
          <a:lstStyle/>
          <a:p>
            <a:pPr marL="0" indent="0">
              <a:buNone/>
            </a:pPr>
            <a:r>
              <a:rPr lang="en-US" sz="2600" b="1" dirty="0">
                <a:solidFill>
                  <a:srgbClr val="17324D"/>
                </a:solidFill>
                <a:latin typeface="Aptos Display" pitchFamily="34" charset="0"/>
                <a:ea typeface="Aptos Display" pitchFamily="34" charset="-122"/>
                <a:cs typeface="Aptos Display" pitchFamily="34" charset="-120"/>
              </a:rPr>
              <a:t>Why are neutrons useful?</a:t>
            </a:r>
            <a:endParaRPr lang="en-US" sz="2600" dirty="0"/>
          </a:p>
        </p:txBody>
      </p:sp>
      <p:sp>
        <p:nvSpPr>
          <p:cNvPr id="3" name="Text 1"/>
          <p:cNvSpPr/>
          <p:nvPr/>
        </p:nvSpPr>
        <p:spPr>
          <a:xfrm>
            <a:off x="530352" y="713232"/>
            <a:ext cx="8229600" cy="228600"/>
          </a:xfrm>
          <a:prstGeom prst="rect">
            <a:avLst/>
          </a:prstGeom>
          <a:noFill/>
          <a:ln/>
        </p:spPr>
        <p:txBody>
          <a:bodyPr wrap="square" lIns="0" tIns="0" rIns="0" bIns="0" rtlCol="0" anchor="ctr"/>
          <a:lstStyle/>
          <a:p>
            <a:pPr marL="0" indent="0">
              <a:buNone/>
            </a:pPr>
            <a:r>
              <a:rPr lang="en-US" sz="1050" dirty="0">
                <a:solidFill>
                  <a:srgbClr val="5A6472"/>
                </a:solidFill>
              </a:rPr>
              <a:t>Neutrons are used to probe fundamental physics</a:t>
            </a:r>
            <a:endParaRPr lang="en-US" sz="1050" dirty="0"/>
          </a:p>
        </p:txBody>
      </p:sp>
      <p:sp>
        <p:nvSpPr>
          <p:cNvPr id="4" name="Shape 2"/>
          <p:cNvSpPr/>
          <p:nvPr/>
        </p:nvSpPr>
        <p:spPr>
          <a:xfrm>
            <a:off x="502920" y="1033272"/>
            <a:ext cx="11155680" cy="0"/>
          </a:xfrm>
          <a:prstGeom prst="line">
            <a:avLst/>
          </a:prstGeom>
          <a:noFill/>
          <a:ln w="15240">
            <a:solidFill>
              <a:srgbClr val="DCEBFA"/>
            </a:solidFill>
            <a:prstDash val="solid"/>
          </a:ln>
        </p:spPr>
        <p:txBody>
          <a:bodyPr/>
          <a:lstStyle/>
          <a:p>
            <a:endParaRPr lang="en-US"/>
          </a:p>
        </p:txBody>
      </p:sp>
      <p:sp>
        <p:nvSpPr>
          <p:cNvPr id="5" name="Text 3"/>
          <p:cNvSpPr/>
          <p:nvPr/>
        </p:nvSpPr>
        <p:spPr>
          <a:xfrm>
            <a:off x="685800" y="1325879"/>
            <a:ext cx="5715000" cy="4282983"/>
          </a:xfrm>
          <a:prstGeom prst="rect">
            <a:avLst/>
          </a:prstGeom>
          <a:noFill/>
          <a:ln/>
        </p:spPr>
        <p:txBody>
          <a:bodyPr wrap="square" lIns="635" tIns="635" rIns="635" bIns="635" rtlCol="0" anchor="ctr">
            <a:normAutofit fontScale="92500"/>
          </a:bodyPr>
          <a:lstStyle/>
          <a:p>
            <a:pPr>
              <a:lnSpc>
                <a:spcPct val="160000"/>
              </a:lnSpc>
            </a:pPr>
            <a:r>
              <a:rPr lang="en-US" sz="1800" dirty="0">
                <a:solidFill>
                  <a:srgbClr val="1C2430"/>
                </a:solidFill>
              </a:rPr>
              <a:t>Neutrons are used in precision experiments to probe the Standard Model and narrow down theories for why its wrong.</a:t>
            </a:r>
          </a:p>
          <a:p>
            <a:pPr marL="285750" indent="-285750">
              <a:lnSpc>
                <a:spcPct val="160000"/>
              </a:lnSpc>
              <a:buFont typeface="Arial" panose="020B0604020202020204" pitchFamily="34" charset="0"/>
              <a:buChar char="•"/>
            </a:pPr>
            <a:r>
              <a:rPr lang="en-US" dirty="0">
                <a:solidFill>
                  <a:srgbClr val="1C2430"/>
                </a:solidFill>
              </a:rPr>
              <a:t>Measuring a non-zero </a:t>
            </a:r>
            <a:r>
              <a:rPr lang="en-US" dirty="0" err="1">
                <a:solidFill>
                  <a:srgbClr val="1C2430"/>
                </a:solidFill>
              </a:rPr>
              <a:t>nEDM</a:t>
            </a:r>
            <a:r>
              <a:rPr lang="en-US" dirty="0">
                <a:solidFill>
                  <a:srgbClr val="1C2430"/>
                </a:solidFill>
              </a:rPr>
              <a:t> with current means of precision would provide an explanation for the matter-antimatter asymmetry of the universe</a:t>
            </a:r>
          </a:p>
          <a:p>
            <a:pPr marL="285750" indent="-285750">
              <a:lnSpc>
                <a:spcPct val="160000"/>
              </a:lnSpc>
              <a:buFont typeface="Arial" panose="020B0604020202020204" pitchFamily="34" charset="0"/>
              <a:buChar char="•"/>
            </a:pPr>
            <a:r>
              <a:rPr lang="en-US" dirty="0">
                <a:solidFill>
                  <a:srgbClr val="1C2430"/>
                </a:solidFill>
              </a:rPr>
              <a:t>Measuring a zero </a:t>
            </a:r>
            <a:r>
              <a:rPr lang="en-US" dirty="0" err="1">
                <a:solidFill>
                  <a:srgbClr val="1C2430"/>
                </a:solidFill>
              </a:rPr>
              <a:t>nEDM</a:t>
            </a:r>
            <a:r>
              <a:rPr lang="en-US" dirty="0">
                <a:solidFill>
                  <a:srgbClr val="1C2430"/>
                </a:solidFill>
              </a:rPr>
              <a:t> with higher precision narrows down theories that explain the asymmetry</a:t>
            </a:r>
          </a:p>
          <a:p>
            <a:pPr>
              <a:lnSpc>
                <a:spcPct val="160000"/>
              </a:lnSpc>
            </a:pPr>
            <a:r>
              <a:rPr lang="en-US" dirty="0">
                <a:solidFill>
                  <a:srgbClr val="1C2430"/>
                </a:solidFill>
              </a:rPr>
              <a:t>These e</a:t>
            </a:r>
            <a:r>
              <a:rPr lang="en-US" sz="1800" dirty="0">
                <a:solidFill>
                  <a:srgbClr val="1C2430"/>
                </a:solidFill>
              </a:rPr>
              <a:t>xperiments require an efficient neutron source. More neutrons can lead to better sensitivity.</a:t>
            </a:r>
          </a:p>
          <a:p>
            <a:pPr>
              <a:lnSpc>
                <a:spcPct val="160000"/>
              </a:lnSpc>
            </a:pPr>
            <a:r>
              <a:rPr lang="en-US" sz="1800" dirty="0">
                <a:solidFill>
                  <a:srgbClr val="1C2430"/>
                </a:solidFill>
              </a:rPr>
              <a:t> </a:t>
            </a:r>
            <a:endParaRPr lang="en-US" sz="1800" dirty="0"/>
          </a:p>
        </p:txBody>
      </p:sp>
      <p:sp>
        <p:nvSpPr>
          <p:cNvPr id="6" name="Shape 4"/>
          <p:cNvSpPr/>
          <p:nvPr/>
        </p:nvSpPr>
        <p:spPr>
          <a:xfrm>
            <a:off x="6858000" y="1417320"/>
            <a:ext cx="822960" cy="3474720"/>
          </a:xfrm>
          <a:prstGeom prst="rect">
            <a:avLst/>
          </a:prstGeom>
          <a:solidFill>
            <a:srgbClr val="DCEBFA"/>
          </a:solidFill>
          <a:ln w="15240">
            <a:solidFill>
              <a:srgbClr val="2B6CB0"/>
            </a:solidFill>
            <a:prstDash val="solid"/>
          </a:ln>
        </p:spPr>
        <p:txBody>
          <a:bodyPr/>
          <a:lstStyle/>
          <a:p>
            <a:endParaRPr lang="en-US"/>
          </a:p>
        </p:txBody>
      </p:sp>
      <p:sp>
        <p:nvSpPr>
          <p:cNvPr id="7" name="Text 5"/>
          <p:cNvSpPr/>
          <p:nvPr/>
        </p:nvSpPr>
        <p:spPr>
          <a:xfrm>
            <a:off x="6858000" y="5074920"/>
            <a:ext cx="822960" cy="228600"/>
          </a:xfrm>
          <a:prstGeom prst="rect">
            <a:avLst/>
          </a:prstGeom>
          <a:noFill/>
          <a:ln/>
        </p:spPr>
        <p:txBody>
          <a:bodyPr wrap="square" lIns="0" tIns="0" rIns="0" bIns="0" rtlCol="0" anchor="ctr"/>
          <a:lstStyle/>
          <a:p>
            <a:pPr marL="0" indent="0" algn="ctr">
              <a:buNone/>
            </a:pPr>
            <a:r>
              <a:rPr lang="en-US" sz="1200" dirty="0">
                <a:solidFill>
                  <a:srgbClr val="5A6472"/>
                </a:solidFill>
              </a:rPr>
              <a:t>Source</a:t>
            </a:r>
            <a:endParaRPr lang="en-US" sz="1200" dirty="0"/>
          </a:p>
        </p:txBody>
      </p:sp>
      <p:sp>
        <p:nvSpPr>
          <p:cNvPr id="8" name="Shape 6"/>
          <p:cNvSpPr/>
          <p:nvPr/>
        </p:nvSpPr>
        <p:spPr>
          <a:xfrm>
            <a:off x="7818120" y="1828800"/>
            <a:ext cx="1691640" cy="0"/>
          </a:xfrm>
          <a:prstGeom prst="line">
            <a:avLst/>
          </a:prstGeom>
          <a:noFill/>
          <a:ln w="19050">
            <a:solidFill>
              <a:srgbClr val="2B6CB0"/>
            </a:solidFill>
            <a:prstDash val="solid"/>
            <a:headEnd type="none"/>
            <a:tailEnd type="triangle"/>
          </a:ln>
        </p:spPr>
        <p:txBody>
          <a:bodyPr/>
          <a:lstStyle/>
          <a:p>
            <a:endParaRPr lang="en-US"/>
          </a:p>
        </p:txBody>
      </p:sp>
      <p:sp>
        <p:nvSpPr>
          <p:cNvPr id="9" name="Shape 7"/>
          <p:cNvSpPr/>
          <p:nvPr/>
        </p:nvSpPr>
        <p:spPr>
          <a:xfrm>
            <a:off x="7818120" y="2331720"/>
            <a:ext cx="1691640" cy="0"/>
          </a:xfrm>
          <a:prstGeom prst="line">
            <a:avLst/>
          </a:prstGeom>
          <a:noFill/>
          <a:ln w="19050">
            <a:solidFill>
              <a:srgbClr val="2B6CB0"/>
            </a:solidFill>
            <a:prstDash val="solid"/>
            <a:headEnd type="none"/>
            <a:tailEnd type="triangle"/>
          </a:ln>
        </p:spPr>
        <p:txBody>
          <a:bodyPr/>
          <a:lstStyle/>
          <a:p>
            <a:endParaRPr lang="en-US"/>
          </a:p>
        </p:txBody>
      </p:sp>
      <p:sp>
        <p:nvSpPr>
          <p:cNvPr id="10" name="Shape 8"/>
          <p:cNvSpPr/>
          <p:nvPr/>
        </p:nvSpPr>
        <p:spPr>
          <a:xfrm>
            <a:off x="7818120" y="2834640"/>
            <a:ext cx="1691640" cy="0"/>
          </a:xfrm>
          <a:prstGeom prst="line">
            <a:avLst/>
          </a:prstGeom>
          <a:noFill/>
          <a:ln w="19050">
            <a:solidFill>
              <a:srgbClr val="2B6CB0"/>
            </a:solidFill>
            <a:prstDash val="solid"/>
            <a:headEnd type="none"/>
            <a:tailEnd type="triangle"/>
          </a:ln>
        </p:spPr>
        <p:txBody>
          <a:bodyPr/>
          <a:lstStyle/>
          <a:p>
            <a:endParaRPr lang="en-US"/>
          </a:p>
        </p:txBody>
      </p:sp>
      <p:sp>
        <p:nvSpPr>
          <p:cNvPr id="11" name="Shape 9"/>
          <p:cNvSpPr/>
          <p:nvPr/>
        </p:nvSpPr>
        <p:spPr>
          <a:xfrm>
            <a:off x="7818120" y="3337560"/>
            <a:ext cx="1691640" cy="0"/>
          </a:xfrm>
          <a:prstGeom prst="line">
            <a:avLst/>
          </a:prstGeom>
          <a:noFill/>
          <a:ln w="19050">
            <a:solidFill>
              <a:srgbClr val="2B6CB0"/>
            </a:solidFill>
            <a:prstDash val="solid"/>
            <a:headEnd type="none"/>
            <a:tailEnd type="triangle"/>
          </a:ln>
        </p:spPr>
        <p:txBody>
          <a:bodyPr/>
          <a:lstStyle/>
          <a:p>
            <a:endParaRPr lang="en-US"/>
          </a:p>
        </p:txBody>
      </p:sp>
      <p:sp>
        <p:nvSpPr>
          <p:cNvPr id="12" name="Shape 10"/>
          <p:cNvSpPr/>
          <p:nvPr/>
        </p:nvSpPr>
        <p:spPr>
          <a:xfrm>
            <a:off x="7818120" y="3840480"/>
            <a:ext cx="1691640" cy="0"/>
          </a:xfrm>
          <a:prstGeom prst="line">
            <a:avLst/>
          </a:prstGeom>
          <a:noFill/>
          <a:ln w="19050">
            <a:solidFill>
              <a:srgbClr val="2B6CB0"/>
            </a:solidFill>
            <a:prstDash val="solid"/>
            <a:headEnd type="none"/>
            <a:tailEnd type="triangle"/>
          </a:ln>
        </p:spPr>
        <p:txBody>
          <a:bodyPr/>
          <a:lstStyle/>
          <a:p>
            <a:endParaRPr lang="en-US"/>
          </a:p>
        </p:txBody>
      </p:sp>
      <p:sp>
        <p:nvSpPr>
          <p:cNvPr id="13" name="Shape 11"/>
          <p:cNvSpPr/>
          <p:nvPr/>
        </p:nvSpPr>
        <p:spPr>
          <a:xfrm>
            <a:off x="9646920" y="1371600"/>
            <a:ext cx="1143000" cy="3520440"/>
          </a:xfrm>
          <a:prstGeom prst="rect">
            <a:avLst/>
          </a:prstGeom>
          <a:solidFill>
            <a:srgbClr val="E6F4EA"/>
          </a:solidFill>
          <a:ln w="15240">
            <a:solidFill>
              <a:srgbClr val="2F855A"/>
            </a:solidFill>
            <a:prstDash val="solid"/>
          </a:ln>
        </p:spPr>
        <p:txBody>
          <a:bodyPr/>
          <a:lstStyle/>
          <a:p>
            <a:endParaRPr lang="en-US"/>
          </a:p>
        </p:txBody>
      </p:sp>
      <p:sp>
        <p:nvSpPr>
          <p:cNvPr id="14" name="Text 12"/>
          <p:cNvSpPr/>
          <p:nvPr/>
        </p:nvSpPr>
        <p:spPr>
          <a:xfrm>
            <a:off x="9372600" y="5074920"/>
            <a:ext cx="1783080" cy="228600"/>
          </a:xfrm>
          <a:prstGeom prst="rect">
            <a:avLst/>
          </a:prstGeom>
          <a:noFill/>
          <a:ln/>
        </p:spPr>
        <p:txBody>
          <a:bodyPr wrap="square" lIns="0" tIns="0" rIns="0" bIns="0" rtlCol="0" anchor="ctr"/>
          <a:lstStyle/>
          <a:p>
            <a:pPr marL="0" indent="0" algn="ctr">
              <a:buNone/>
            </a:pPr>
            <a:r>
              <a:rPr lang="en-US" sz="1200" dirty="0">
                <a:solidFill>
                  <a:srgbClr val="5A6472"/>
                </a:solidFill>
              </a:rPr>
              <a:t>Experiment</a:t>
            </a:r>
            <a:endParaRPr lang="en-US" sz="1200" dirty="0"/>
          </a:p>
        </p:txBody>
      </p:sp>
      <p:sp>
        <p:nvSpPr>
          <p:cNvPr id="15" name="Text 13"/>
          <p:cNvSpPr/>
          <p:nvPr/>
        </p:nvSpPr>
        <p:spPr>
          <a:xfrm>
            <a:off x="6583680" y="5715000"/>
            <a:ext cx="4480560" cy="320040"/>
          </a:xfrm>
          <a:prstGeom prst="rect">
            <a:avLst/>
          </a:prstGeom>
          <a:noFill/>
          <a:ln/>
        </p:spPr>
        <p:txBody>
          <a:bodyPr wrap="square" lIns="0" tIns="0" rIns="0" bIns="0" rtlCol="0" anchor="ctr"/>
          <a:lstStyle/>
          <a:p>
            <a:pPr marL="0" indent="0" algn="ctr">
              <a:buNone/>
            </a:pPr>
            <a:r>
              <a:rPr lang="en-US" sz="2000" b="1" dirty="0">
                <a:solidFill>
                  <a:srgbClr val="17324D"/>
                </a:solidFill>
              </a:rPr>
              <a:t>Neutron Source </a:t>
            </a:r>
            <a:r>
              <a:rPr lang="en-US" sz="2000" b="1" dirty="0">
                <a:solidFill>
                  <a:srgbClr val="17324D"/>
                </a:solidFill>
                <a:sym typeface="Wingdings" panose="05000000000000000000" pitchFamily="2" charset="2"/>
              </a:rPr>
              <a:t> E</a:t>
            </a:r>
            <a:r>
              <a:rPr lang="en-US" sz="2000" b="1" dirty="0">
                <a:solidFill>
                  <a:srgbClr val="17324D"/>
                </a:solidFill>
              </a:rPr>
              <a:t>xperiment</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6F2CD-CE1C-1756-0E5A-83458DFFC29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35409F9-F7B8-50E9-11A2-6F0782BF083C}"/>
              </a:ext>
            </a:extLst>
          </p:cNvPr>
          <p:cNvSpPr/>
          <p:nvPr/>
        </p:nvSpPr>
        <p:spPr>
          <a:xfrm>
            <a:off x="502920" y="274319"/>
            <a:ext cx="8046720" cy="713559"/>
          </a:xfrm>
          <a:prstGeom prst="rect">
            <a:avLst/>
          </a:prstGeom>
          <a:noFill/>
          <a:ln/>
        </p:spPr>
        <p:txBody>
          <a:bodyPr wrap="square" lIns="0" tIns="0" rIns="0" bIns="0" rtlCol="0" anchor="ctr"/>
          <a:lstStyle/>
          <a:p>
            <a:pPr marL="0" indent="0">
              <a:buNone/>
            </a:pPr>
            <a:r>
              <a:rPr lang="en-US" sz="2600" b="1" dirty="0">
                <a:solidFill>
                  <a:srgbClr val="17324D"/>
                </a:solidFill>
                <a:latin typeface="Aptos Display" pitchFamily="34" charset="0"/>
                <a:ea typeface="Aptos Display" pitchFamily="34" charset="-122"/>
                <a:cs typeface="Aptos Display" pitchFamily="34" charset="-120"/>
              </a:rPr>
              <a:t>Goal:</a:t>
            </a:r>
            <a:endParaRPr lang="en-US" sz="2600" dirty="0"/>
          </a:p>
        </p:txBody>
      </p:sp>
      <p:sp>
        <p:nvSpPr>
          <p:cNvPr id="4" name="Shape 2">
            <a:extLst>
              <a:ext uri="{FF2B5EF4-FFF2-40B4-BE49-F238E27FC236}">
                <a16:creationId xmlns:a16="http://schemas.microsoft.com/office/drawing/2014/main" id="{37A364AF-EB80-7CC3-D103-BD54660C5554}"/>
              </a:ext>
            </a:extLst>
          </p:cNvPr>
          <p:cNvSpPr/>
          <p:nvPr/>
        </p:nvSpPr>
        <p:spPr>
          <a:xfrm>
            <a:off x="502920" y="1033272"/>
            <a:ext cx="11155680" cy="0"/>
          </a:xfrm>
          <a:prstGeom prst="line">
            <a:avLst/>
          </a:prstGeom>
          <a:noFill/>
          <a:ln w="15240">
            <a:solidFill>
              <a:srgbClr val="DCEBFA"/>
            </a:solidFill>
            <a:prstDash val="solid"/>
          </a:ln>
        </p:spPr>
        <p:txBody>
          <a:bodyPr/>
          <a:lstStyle/>
          <a:p>
            <a:endParaRPr lang="en-US"/>
          </a:p>
        </p:txBody>
      </p:sp>
      <p:sp>
        <p:nvSpPr>
          <p:cNvPr id="5" name="Text 3">
            <a:extLst>
              <a:ext uri="{FF2B5EF4-FFF2-40B4-BE49-F238E27FC236}">
                <a16:creationId xmlns:a16="http://schemas.microsoft.com/office/drawing/2014/main" id="{7E55A8CC-B5A0-686B-4790-793CF7C3CDEE}"/>
              </a:ext>
            </a:extLst>
          </p:cNvPr>
          <p:cNvSpPr/>
          <p:nvPr/>
        </p:nvSpPr>
        <p:spPr>
          <a:xfrm>
            <a:off x="685799" y="1325879"/>
            <a:ext cx="10931979" cy="4621803"/>
          </a:xfrm>
          <a:prstGeom prst="rect">
            <a:avLst/>
          </a:prstGeom>
          <a:noFill/>
          <a:ln/>
        </p:spPr>
        <p:txBody>
          <a:bodyPr wrap="square" lIns="635" tIns="635" rIns="635" bIns="635" rtlCol="0" anchor="ctr">
            <a:normAutofit/>
          </a:bodyPr>
          <a:lstStyle/>
          <a:p>
            <a:pPr>
              <a:lnSpc>
                <a:spcPct val="160000"/>
              </a:lnSpc>
            </a:pPr>
            <a:r>
              <a:rPr lang="en-US" dirty="0"/>
              <a:t>Researchers at LANL are interested in using an 18 kg mass of Uranium to boost the number of UCNs generated at LANSCE. In order to demonstrate the possibility of creating an efficient neutron source using 18kg of LEU, we aimed to demonstrate a geometry that achieves criticality using cylinders. Cylinders are sub-optimal for neutron sources, so using them acts to counteract real-life factors, such as structural support, to a degree. </a:t>
            </a:r>
            <a:endParaRPr lang="en-US" sz="1800" dirty="0"/>
          </a:p>
        </p:txBody>
      </p:sp>
    </p:spTree>
    <p:extLst>
      <p:ext uri="{BB962C8B-B14F-4D97-AF65-F5344CB8AC3E}">
        <p14:creationId xmlns:p14="http://schemas.microsoft.com/office/powerpoint/2010/main" val="3408418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74320"/>
            <a:ext cx="8046720" cy="411480"/>
          </a:xfrm>
          <a:prstGeom prst="rect">
            <a:avLst/>
          </a:prstGeom>
          <a:noFill/>
          <a:ln/>
        </p:spPr>
        <p:txBody>
          <a:bodyPr wrap="square" lIns="0" tIns="0" rIns="0" bIns="0" rtlCol="0" anchor="ctr"/>
          <a:lstStyle/>
          <a:p>
            <a:pPr marL="0" indent="0">
              <a:buNone/>
            </a:pPr>
            <a:r>
              <a:rPr lang="en-US" sz="2600" b="1" dirty="0">
                <a:solidFill>
                  <a:srgbClr val="17324D"/>
                </a:solidFill>
                <a:latin typeface="Aptos Display" pitchFamily="34" charset="0"/>
                <a:ea typeface="Aptos Display" pitchFamily="34" charset="-122"/>
                <a:cs typeface="Aptos Display" pitchFamily="34" charset="-120"/>
              </a:rPr>
              <a:t>Chain reactions and </a:t>
            </a:r>
            <a:r>
              <a:rPr lang="en-US" sz="2600" b="1" dirty="0" err="1">
                <a:solidFill>
                  <a:srgbClr val="17324D"/>
                </a:solidFill>
                <a:latin typeface="Aptos Display" pitchFamily="34" charset="0"/>
                <a:ea typeface="Aptos Display" pitchFamily="34" charset="-122"/>
                <a:cs typeface="Aptos Display" pitchFamily="34" charset="-120"/>
              </a:rPr>
              <a:t>k</a:t>
            </a:r>
            <a:r>
              <a:rPr lang="en-US" sz="2600" b="1" baseline="-25000" dirty="0" err="1">
                <a:solidFill>
                  <a:srgbClr val="17324D"/>
                </a:solidFill>
                <a:latin typeface="Aptos Display" pitchFamily="34" charset="0"/>
                <a:ea typeface="Aptos Display" pitchFamily="34" charset="-122"/>
                <a:cs typeface="Aptos Display" pitchFamily="34" charset="-120"/>
              </a:rPr>
              <a:t>eff</a:t>
            </a:r>
            <a:endParaRPr lang="en-US" sz="2600" dirty="0"/>
          </a:p>
        </p:txBody>
      </p:sp>
      <p:sp>
        <p:nvSpPr>
          <p:cNvPr id="3" name="Text 1"/>
          <p:cNvSpPr/>
          <p:nvPr/>
        </p:nvSpPr>
        <p:spPr>
          <a:xfrm>
            <a:off x="530352" y="713232"/>
            <a:ext cx="8229600" cy="228600"/>
          </a:xfrm>
          <a:prstGeom prst="rect">
            <a:avLst/>
          </a:prstGeom>
          <a:noFill/>
          <a:ln/>
        </p:spPr>
        <p:txBody>
          <a:bodyPr wrap="square" lIns="0" tIns="0" rIns="0" bIns="0" rtlCol="0" anchor="ctr"/>
          <a:lstStyle/>
          <a:p>
            <a:pPr marL="0" indent="0">
              <a:buNone/>
            </a:pPr>
            <a:endParaRPr lang="en-US" sz="1050" dirty="0"/>
          </a:p>
        </p:txBody>
      </p:sp>
      <p:sp>
        <p:nvSpPr>
          <p:cNvPr id="4" name="Shape 2"/>
          <p:cNvSpPr/>
          <p:nvPr/>
        </p:nvSpPr>
        <p:spPr>
          <a:xfrm>
            <a:off x="502920" y="1033272"/>
            <a:ext cx="11155680" cy="0"/>
          </a:xfrm>
          <a:prstGeom prst="line">
            <a:avLst/>
          </a:prstGeom>
          <a:noFill/>
          <a:ln w="15240">
            <a:solidFill>
              <a:srgbClr val="DCEBFA"/>
            </a:solidFill>
            <a:prstDash val="solid"/>
          </a:ln>
        </p:spPr>
        <p:txBody>
          <a:bodyPr/>
          <a:lstStyle/>
          <a:p>
            <a:endParaRPr lang="en-US"/>
          </a:p>
        </p:txBody>
      </p:sp>
      <p:sp>
        <p:nvSpPr>
          <p:cNvPr id="5" name="Shape 3"/>
          <p:cNvSpPr/>
          <p:nvPr/>
        </p:nvSpPr>
        <p:spPr>
          <a:xfrm>
            <a:off x="685800" y="2560320"/>
            <a:ext cx="1234440" cy="502920"/>
          </a:xfrm>
          <a:prstGeom prst="roundRect">
            <a:avLst>
              <a:gd name="adj" fmla="val 14545"/>
            </a:avLst>
          </a:prstGeom>
          <a:solidFill>
            <a:srgbClr val="DCEBFA"/>
          </a:solidFill>
          <a:ln w="15240">
            <a:solidFill>
              <a:srgbClr val="2B6CB0"/>
            </a:solidFill>
            <a:prstDash val="solid"/>
          </a:ln>
        </p:spPr>
        <p:txBody>
          <a:bodyPr/>
          <a:lstStyle/>
          <a:p>
            <a:endParaRPr lang="en-US"/>
          </a:p>
        </p:txBody>
      </p:sp>
      <p:sp>
        <p:nvSpPr>
          <p:cNvPr id="6" name="Text 4"/>
          <p:cNvSpPr/>
          <p:nvPr/>
        </p:nvSpPr>
        <p:spPr>
          <a:xfrm>
            <a:off x="795528" y="2651760"/>
            <a:ext cx="1014984" cy="320040"/>
          </a:xfrm>
          <a:prstGeom prst="rect">
            <a:avLst/>
          </a:prstGeom>
          <a:noFill/>
          <a:ln/>
        </p:spPr>
        <p:txBody>
          <a:bodyPr wrap="square" lIns="0" tIns="0" rIns="0" bIns="0" rtlCol="0" anchor="ctr">
            <a:normAutofit fontScale="77500" lnSpcReduction="20000"/>
          </a:bodyPr>
          <a:lstStyle/>
          <a:p>
            <a:pPr marL="0" indent="0" algn="ctr">
              <a:buNone/>
            </a:pPr>
            <a:r>
              <a:rPr lang="en-US" sz="1500" b="1" dirty="0">
                <a:solidFill>
                  <a:srgbClr val="1C2430"/>
                </a:solidFill>
              </a:rPr>
              <a:t>Initial Neutron</a:t>
            </a:r>
            <a:endParaRPr lang="en-US" sz="1500" dirty="0"/>
          </a:p>
        </p:txBody>
      </p:sp>
      <p:sp>
        <p:nvSpPr>
          <p:cNvPr id="7" name="Shape 5"/>
          <p:cNvSpPr/>
          <p:nvPr/>
        </p:nvSpPr>
        <p:spPr>
          <a:xfrm>
            <a:off x="1965960" y="2811780"/>
            <a:ext cx="822960" cy="0"/>
          </a:xfrm>
          <a:prstGeom prst="line">
            <a:avLst/>
          </a:prstGeom>
          <a:noFill/>
          <a:ln w="25400">
            <a:solidFill>
              <a:srgbClr val="2B6CB0"/>
            </a:solidFill>
            <a:prstDash val="solid"/>
            <a:headEnd type="none"/>
            <a:tailEnd type="triangle"/>
          </a:ln>
        </p:spPr>
        <p:txBody>
          <a:bodyPr/>
          <a:lstStyle/>
          <a:p>
            <a:endParaRPr lang="en-US"/>
          </a:p>
        </p:txBody>
      </p:sp>
      <p:sp>
        <p:nvSpPr>
          <p:cNvPr id="8" name="Shape 6"/>
          <p:cNvSpPr/>
          <p:nvPr/>
        </p:nvSpPr>
        <p:spPr>
          <a:xfrm>
            <a:off x="2834640" y="2331720"/>
            <a:ext cx="1371600" cy="960120"/>
          </a:xfrm>
          <a:prstGeom prst="roundRect">
            <a:avLst>
              <a:gd name="adj" fmla="val 7619"/>
            </a:avLst>
          </a:prstGeom>
          <a:solidFill>
            <a:srgbClr val="FBE4E6"/>
          </a:solidFill>
          <a:ln w="15240">
            <a:solidFill>
              <a:srgbClr val="C44E52"/>
            </a:solidFill>
            <a:prstDash val="solid"/>
          </a:ln>
        </p:spPr>
        <p:txBody>
          <a:bodyPr/>
          <a:lstStyle/>
          <a:p>
            <a:endParaRPr lang="en-US"/>
          </a:p>
        </p:txBody>
      </p:sp>
      <p:sp>
        <p:nvSpPr>
          <p:cNvPr id="9" name="Text 7"/>
          <p:cNvSpPr/>
          <p:nvPr/>
        </p:nvSpPr>
        <p:spPr>
          <a:xfrm>
            <a:off x="2944368" y="2423160"/>
            <a:ext cx="1152144" cy="777240"/>
          </a:xfrm>
          <a:prstGeom prst="rect">
            <a:avLst/>
          </a:prstGeom>
          <a:noFill/>
          <a:ln/>
        </p:spPr>
        <p:txBody>
          <a:bodyPr wrap="square" lIns="0" tIns="0" rIns="0" bIns="0" rtlCol="0" anchor="ctr">
            <a:normAutofit/>
          </a:bodyPr>
          <a:lstStyle/>
          <a:p>
            <a:pPr marL="0" indent="0" algn="ctr">
              <a:buNone/>
            </a:pPr>
            <a:r>
              <a:rPr lang="en-US" b="1" dirty="0">
                <a:solidFill>
                  <a:srgbClr val="1C2430"/>
                </a:solidFill>
              </a:rPr>
              <a:t>Uranium</a:t>
            </a:r>
            <a:r>
              <a:rPr lang="en-US" sz="1800" b="1" dirty="0">
                <a:solidFill>
                  <a:srgbClr val="1C2430"/>
                </a:solidFill>
              </a:rPr>
              <a:t> Fissions</a:t>
            </a:r>
            <a:endParaRPr lang="en-US" sz="1800" dirty="0"/>
          </a:p>
        </p:txBody>
      </p:sp>
      <p:sp>
        <p:nvSpPr>
          <p:cNvPr id="10" name="Shape 8"/>
          <p:cNvSpPr/>
          <p:nvPr/>
        </p:nvSpPr>
        <p:spPr>
          <a:xfrm flipV="1">
            <a:off x="4297680" y="1691640"/>
            <a:ext cx="1188720" cy="822960"/>
          </a:xfrm>
          <a:prstGeom prst="line">
            <a:avLst/>
          </a:prstGeom>
          <a:noFill/>
          <a:ln w="19050">
            <a:solidFill>
              <a:srgbClr val="5A6472"/>
            </a:solidFill>
            <a:prstDash val="solid"/>
            <a:headEnd type="none"/>
            <a:tailEnd type="triangle"/>
          </a:ln>
        </p:spPr>
        <p:txBody>
          <a:bodyPr/>
          <a:lstStyle/>
          <a:p>
            <a:endParaRPr lang="en-US"/>
          </a:p>
        </p:txBody>
      </p:sp>
      <p:grpSp>
        <p:nvGrpSpPr>
          <p:cNvPr id="28" name="Group 27">
            <a:extLst>
              <a:ext uri="{FF2B5EF4-FFF2-40B4-BE49-F238E27FC236}">
                <a16:creationId xmlns:a16="http://schemas.microsoft.com/office/drawing/2014/main" id="{1D7430B1-674C-339F-B285-FB111CDFE89B}"/>
              </a:ext>
            </a:extLst>
          </p:cNvPr>
          <p:cNvGrpSpPr/>
          <p:nvPr/>
        </p:nvGrpSpPr>
        <p:grpSpPr>
          <a:xfrm>
            <a:off x="5664708" y="1163573"/>
            <a:ext cx="1234440" cy="502920"/>
            <a:chOff x="5532120" y="1165860"/>
            <a:chExt cx="1234440" cy="502920"/>
          </a:xfrm>
        </p:grpSpPr>
        <p:sp>
          <p:nvSpPr>
            <p:cNvPr id="11" name="Shape 9"/>
            <p:cNvSpPr/>
            <p:nvPr/>
          </p:nvSpPr>
          <p:spPr>
            <a:xfrm>
              <a:off x="5532120" y="1165860"/>
              <a:ext cx="1234440" cy="502920"/>
            </a:xfrm>
            <a:prstGeom prst="roundRect">
              <a:avLst>
                <a:gd name="adj" fmla="val 14545"/>
              </a:avLst>
            </a:prstGeom>
            <a:solidFill>
              <a:srgbClr val="F2F4F8"/>
            </a:solidFill>
            <a:ln w="15240">
              <a:solidFill>
                <a:srgbClr val="AAB2BD"/>
              </a:solidFill>
              <a:prstDash val="solid"/>
            </a:ln>
          </p:spPr>
          <p:txBody>
            <a:bodyPr/>
            <a:lstStyle/>
            <a:p>
              <a:endParaRPr lang="en-US"/>
            </a:p>
          </p:txBody>
        </p:sp>
        <p:sp>
          <p:nvSpPr>
            <p:cNvPr id="12" name="Text 10"/>
            <p:cNvSpPr/>
            <p:nvPr/>
          </p:nvSpPr>
          <p:spPr>
            <a:xfrm>
              <a:off x="5641848" y="1252729"/>
              <a:ext cx="1014984" cy="320040"/>
            </a:xfrm>
            <a:prstGeom prst="rect">
              <a:avLst/>
            </a:prstGeom>
            <a:noFill/>
            <a:ln/>
          </p:spPr>
          <p:txBody>
            <a:bodyPr wrap="square" lIns="0" tIns="0" rIns="0" bIns="0" rtlCol="0" anchor="ctr">
              <a:normAutofit fontScale="92500" lnSpcReduction="20000"/>
            </a:bodyPr>
            <a:lstStyle/>
            <a:p>
              <a:pPr marL="0" indent="0" algn="ctr">
                <a:buNone/>
              </a:pPr>
              <a:r>
                <a:rPr lang="en-US" sz="1300" dirty="0">
                  <a:solidFill>
                    <a:srgbClr val="1C2430"/>
                  </a:solidFill>
                </a:rPr>
                <a:t>Neutron Escapes</a:t>
              </a:r>
              <a:endParaRPr lang="en-US" sz="1300" dirty="0"/>
            </a:p>
          </p:txBody>
        </p:sp>
      </p:grpSp>
      <p:sp>
        <p:nvSpPr>
          <p:cNvPr id="13" name="Shape 11"/>
          <p:cNvSpPr/>
          <p:nvPr/>
        </p:nvSpPr>
        <p:spPr>
          <a:xfrm>
            <a:off x="4343401" y="3438144"/>
            <a:ext cx="1143000" cy="530356"/>
          </a:xfrm>
          <a:prstGeom prst="line">
            <a:avLst/>
          </a:prstGeom>
          <a:noFill/>
          <a:ln w="19050">
            <a:solidFill>
              <a:srgbClr val="5A6472"/>
            </a:solidFill>
            <a:prstDash val="solid"/>
            <a:headEnd type="none"/>
            <a:tailEnd type="triangle"/>
          </a:ln>
        </p:spPr>
        <p:txBody>
          <a:bodyPr/>
          <a:lstStyle/>
          <a:p>
            <a:endParaRPr lang="en-US"/>
          </a:p>
        </p:txBody>
      </p:sp>
      <p:grpSp>
        <p:nvGrpSpPr>
          <p:cNvPr id="26" name="Group 25">
            <a:extLst>
              <a:ext uri="{FF2B5EF4-FFF2-40B4-BE49-F238E27FC236}">
                <a16:creationId xmlns:a16="http://schemas.microsoft.com/office/drawing/2014/main" id="{5D2685DA-2A6F-14D8-1C83-427D72C5D70E}"/>
              </a:ext>
            </a:extLst>
          </p:cNvPr>
          <p:cNvGrpSpPr/>
          <p:nvPr/>
        </p:nvGrpSpPr>
        <p:grpSpPr>
          <a:xfrm>
            <a:off x="5687568" y="3977641"/>
            <a:ext cx="1234440" cy="502920"/>
            <a:chOff x="5577840" y="2542032"/>
            <a:chExt cx="1234440" cy="502920"/>
          </a:xfrm>
        </p:grpSpPr>
        <p:sp>
          <p:nvSpPr>
            <p:cNvPr id="14" name="Shape 12"/>
            <p:cNvSpPr/>
            <p:nvPr/>
          </p:nvSpPr>
          <p:spPr>
            <a:xfrm>
              <a:off x="5577840" y="2542032"/>
              <a:ext cx="1234440" cy="502920"/>
            </a:xfrm>
            <a:prstGeom prst="roundRect">
              <a:avLst>
                <a:gd name="adj" fmla="val 14545"/>
              </a:avLst>
            </a:prstGeom>
            <a:solidFill>
              <a:srgbClr val="F2F4F8"/>
            </a:solidFill>
            <a:ln w="15240">
              <a:solidFill>
                <a:srgbClr val="AAB2BD"/>
              </a:solidFill>
              <a:prstDash val="solid"/>
            </a:ln>
          </p:spPr>
          <p:txBody>
            <a:bodyPr/>
            <a:lstStyle/>
            <a:p>
              <a:endParaRPr lang="en-US"/>
            </a:p>
          </p:txBody>
        </p:sp>
        <p:sp>
          <p:nvSpPr>
            <p:cNvPr id="15" name="Text 13"/>
            <p:cNvSpPr/>
            <p:nvPr/>
          </p:nvSpPr>
          <p:spPr>
            <a:xfrm>
              <a:off x="5687568" y="2633472"/>
              <a:ext cx="1014984" cy="320040"/>
            </a:xfrm>
            <a:prstGeom prst="rect">
              <a:avLst/>
            </a:prstGeom>
            <a:noFill/>
            <a:ln/>
          </p:spPr>
          <p:txBody>
            <a:bodyPr wrap="square" lIns="0" tIns="0" rIns="0" bIns="0" rtlCol="0" anchor="ctr">
              <a:normAutofit fontScale="92500" lnSpcReduction="20000"/>
            </a:bodyPr>
            <a:lstStyle/>
            <a:p>
              <a:pPr marL="0" indent="0" algn="ctr">
                <a:buNone/>
              </a:pPr>
              <a:r>
                <a:rPr lang="en-US" sz="1300" dirty="0">
                  <a:solidFill>
                    <a:srgbClr val="1C2430"/>
                  </a:solidFill>
                </a:rPr>
                <a:t>Neutron Escapes</a:t>
              </a:r>
              <a:endParaRPr lang="en-US" sz="1300" dirty="0"/>
            </a:p>
          </p:txBody>
        </p:sp>
      </p:grpSp>
      <p:sp>
        <p:nvSpPr>
          <p:cNvPr id="16" name="Shape 14"/>
          <p:cNvSpPr/>
          <p:nvPr/>
        </p:nvSpPr>
        <p:spPr>
          <a:xfrm>
            <a:off x="4343400" y="2802637"/>
            <a:ext cx="1188720" cy="9143"/>
          </a:xfrm>
          <a:prstGeom prst="line">
            <a:avLst/>
          </a:prstGeom>
          <a:noFill/>
          <a:ln w="22860">
            <a:solidFill>
              <a:srgbClr val="2B6CB0"/>
            </a:solidFill>
            <a:prstDash val="solid"/>
            <a:headEnd type="none"/>
            <a:tailEnd type="triangle"/>
          </a:ln>
        </p:spPr>
        <p:txBody>
          <a:bodyPr/>
          <a:lstStyle/>
          <a:p>
            <a:endParaRPr lang="en-US"/>
          </a:p>
        </p:txBody>
      </p:sp>
      <p:grpSp>
        <p:nvGrpSpPr>
          <p:cNvPr id="27" name="Group 26">
            <a:extLst>
              <a:ext uri="{FF2B5EF4-FFF2-40B4-BE49-F238E27FC236}">
                <a16:creationId xmlns:a16="http://schemas.microsoft.com/office/drawing/2014/main" id="{6627F687-AC6C-2FBD-CF98-EA42000184DB}"/>
              </a:ext>
            </a:extLst>
          </p:cNvPr>
          <p:cNvGrpSpPr/>
          <p:nvPr/>
        </p:nvGrpSpPr>
        <p:grpSpPr>
          <a:xfrm>
            <a:off x="5664708" y="2569463"/>
            <a:ext cx="1737360" cy="502920"/>
            <a:chOff x="5532120" y="3913632"/>
            <a:chExt cx="1737360" cy="502920"/>
          </a:xfrm>
        </p:grpSpPr>
        <p:sp>
          <p:nvSpPr>
            <p:cNvPr id="17" name="Shape 15"/>
            <p:cNvSpPr/>
            <p:nvPr/>
          </p:nvSpPr>
          <p:spPr>
            <a:xfrm>
              <a:off x="5532120" y="3913632"/>
              <a:ext cx="1737360" cy="502920"/>
            </a:xfrm>
            <a:prstGeom prst="roundRect">
              <a:avLst>
                <a:gd name="adj" fmla="val 14545"/>
              </a:avLst>
            </a:prstGeom>
            <a:solidFill>
              <a:srgbClr val="DCEBFA"/>
            </a:solidFill>
            <a:ln w="15240">
              <a:solidFill>
                <a:srgbClr val="2B6CB0"/>
              </a:solidFill>
              <a:prstDash val="solid"/>
            </a:ln>
          </p:spPr>
          <p:txBody>
            <a:bodyPr/>
            <a:lstStyle/>
            <a:p>
              <a:endParaRPr lang="en-US" dirty="0"/>
            </a:p>
          </p:txBody>
        </p:sp>
        <p:sp>
          <p:nvSpPr>
            <p:cNvPr id="18" name="Text 16"/>
            <p:cNvSpPr/>
            <p:nvPr/>
          </p:nvSpPr>
          <p:spPr>
            <a:xfrm>
              <a:off x="5641848" y="4005072"/>
              <a:ext cx="1517904" cy="320040"/>
            </a:xfrm>
            <a:prstGeom prst="rect">
              <a:avLst/>
            </a:prstGeom>
            <a:noFill/>
            <a:ln/>
          </p:spPr>
          <p:txBody>
            <a:bodyPr wrap="square" lIns="0" tIns="0" rIns="0" bIns="0" rtlCol="0" anchor="ctr">
              <a:normAutofit fontScale="92500" lnSpcReduction="20000"/>
            </a:bodyPr>
            <a:lstStyle/>
            <a:p>
              <a:pPr marL="0" indent="0" algn="ctr">
                <a:buNone/>
              </a:pPr>
              <a:r>
                <a:rPr lang="en-US" sz="1300" b="1" dirty="0">
                  <a:solidFill>
                    <a:srgbClr val="1C2430"/>
                  </a:solidFill>
                </a:rPr>
                <a:t>Neutron Continues Chain</a:t>
              </a:r>
              <a:endParaRPr lang="en-US" sz="1300" dirty="0"/>
            </a:p>
          </p:txBody>
        </p:sp>
      </p:grpSp>
      <p:sp>
        <p:nvSpPr>
          <p:cNvPr id="19" name="Shape 17"/>
          <p:cNvSpPr/>
          <p:nvPr/>
        </p:nvSpPr>
        <p:spPr>
          <a:xfrm>
            <a:off x="7585438" y="2820923"/>
            <a:ext cx="1051560" cy="0"/>
          </a:xfrm>
          <a:prstGeom prst="line">
            <a:avLst/>
          </a:prstGeom>
          <a:noFill/>
          <a:ln w="22860">
            <a:solidFill>
              <a:srgbClr val="2B6CB0"/>
            </a:solidFill>
            <a:prstDash val="solid"/>
            <a:headEnd type="none"/>
            <a:tailEnd type="triangle"/>
          </a:ln>
        </p:spPr>
        <p:txBody>
          <a:bodyPr/>
          <a:lstStyle/>
          <a:p>
            <a:endParaRPr lang="en-US" dirty="0"/>
          </a:p>
        </p:txBody>
      </p:sp>
      <p:grpSp>
        <p:nvGrpSpPr>
          <p:cNvPr id="29" name="Group 28">
            <a:extLst>
              <a:ext uri="{FF2B5EF4-FFF2-40B4-BE49-F238E27FC236}">
                <a16:creationId xmlns:a16="http://schemas.microsoft.com/office/drawing/2014/main" id="{2ACADB07-9D40-CAAB-90AA-C43E7061014A}"/>
              </a:ext>
            </a:extLst>
          </p:cNvPr>
          <p:cNvGrpSpPr/>
          <p:nvPr/>
        </p:nvGrpSpPr>
        <p:grpSpPr>
          <a:xfrm>
            <a:off x="8860536" y="2423160"/>
            <a:ext cx="1600200" cy="914400"/>
            <a:chOff x="8567928" y="3721771"/>
            <a:chExt cx="1600200" cy="914400"/>
          </a:xfrm>
        </p:grpSpPr>
        <p:sp>
          <p:nvSpPr>
            <p:cNvPr id="20" name="Shape 18"/>
            <p:cNvSpPr/>
            <p:nvPr/>
          </p:nvSpPr>
          <p:spPr>
            <a:xfrm>
              <a:off x="8567928" y="3721771"/>
              <a:ext cx="1600200" cy="914400"/>
            </a:xfrm>
            <a:prstGeom prst="roundRect">
              <a:avLst>
                <a:gd name="adj" fmla="val 8000"/>
              </a:avLst>
            </a:prstGeom>
            <a:solidFill>
              <a:srgbClr val="FBE4E6"/>
            </a:solidFill>
            <a:ln w="15240">
              <a:solidFill>
                <a:srgbClr val="C44E52"/>
              </a:solidFill>
              <a:prstDash val="solid"/>
            </a:ln>
          </p:spPr>
          <p:txBody>
            <a:bodyPr/>
            <a:lstStyle/>
            <a:p>
              <a:endParaRPr lang="en-US"/>
            </a:p>
          </p:txBody>
        </p:sp>
        <p:sp>
          <p:nvSpPr>
            <p:cNvPr id="21" name="Text 19"/>
            <p:cNvSpPr/>
            <p:nvPr/>
          </p:nvSpPr>
          <p:spPr>
            <a:xfrm>
              <a:off x="8677656" y="3813211"/>
              <a:ext cx="1380744" cy="731520"/>
            </a:xfrm>
            <a:prstGeom prst="rect">
              <a:avLst/>
            </a:prstGeom>
            <a:noFill/>
            <a:ln/>
          </p:spPr>
          <p:txBody>
            <a:bodyPr wrap="square" lIns="0" tIns="0" rIns="0" bIns="0" rtlCol="0" anchor="ctr">
              <a:normAutofit/>
            </a:bodyPr>
            <a:lstStyle/>
            <a:p>
              <a:pPr marL="0" indent="0" algn="ctr">
                <a:buNone/>
              </a:pPr>
              <a:r>
                <a:rPr lang="en-US" sz="1600" b="1" dirty="0">
                  <a:solidFill>
                    <a:srgbClr val="1C2430"/>
                  </a:solidFill>
                </a:rPr>
                <a:t>Uranium Fission</a:t>
              </a:r>
              <a:endParaRPr lang="en-US" sz="1600" dirty="0"/>
            </a:p>
          </p:txBody>
        </p:sp>
      </p:grpSp>
      <p:sp>
        <p:nvSpPr>
          <p:cNvPr id="22" name="Text 20"/>
          <p:cNvSpPr/>
          <p:nvPr/>
        </p:nvSpPr>
        <p:spPr>
          <a:xfrm>
            <a:off x="822960" y="5303520"/>
            <a:ext cx="9692640" cy="320040"/>
          </a:xfrm>
          <a:prstGeom prst="rect">
            <a:avLst/>
          </a:prstGeom>
          <a:noFill/>
          <a:ln/>
        </p:spPr>
        <p:txBody>
          <a:bodyPr wrap="square" lIns="0" tIns="0" rIns="0" bIns="0" rtlCol="0" anchor="ctr"/>
          <a:lstStyle/>
          <a:p>
            <a:pPr marL="0" indent="0" algn="ctr">
              <a:buNone/>
            </a:pPr>
            <a:r>
              <a:rPr lang="en-US" sz="2000" b="1" dirty="0" err="1">
                <a:solidFill>
                  <a:srgbClr val="17324D"/>
                </a:solidFill>
              </a:rPr>
              <a:t>k</a:t>
            </a:r>
            <a:r>
              <a:rPr lang="en-US" sz="2000" b="1" baseline="-25000" dirty="0" err="1">
                <a:solidFill>
                  <a:srgbClr val="17324D"/>
                </a:solidFill>
              </a:rPr>
              <a:t>eff</a:t>
            </a:r>
            <a:r>
              <a:rPr lang="en-US" sz="2000" b="1" dirty="0">
                <a:solidFill>
                  <a:srgbClr val="17324D"/>
                </a:solidFill>
              </a:rPr>
              <a:t> = # neutrons in current generation / # neutrons in previous generation</a:t>
            </a:r>
            <a:endParaRPr lang="en-US" sz="2000" dirty="0"/>
          </a:p>
        </p:txBody>
      </p:sp>
      <p:sp>
        <p:nvSpPr>
          <p:cNvPr id="25" name="Text 19">
            <a:extLst>
              <a:ext uri="{FF2B5EF4-FFF2-40B4-BE49-F238E27FC236}">
                <a16:creationId xmlns:a16="http://schemas.microsoft.com/office/drawing/2014/main" id="{EBD9A49C-07E3-EAF7-F282-C597D34FB76F}"/>
              </a:ext>
            </a:extLst>
          </p:cNvPr>
          <p:cNvSpPr/>
          <p:nvPr/>
        </p:nvSpPr>
        <p:spPr>
          <a:xfrm>
            <a:off x="10570464" y="2514600"/>
            <a:ext cx="1380744" cy="731520"/>
          </a:xfrm>
          <a:prstGeom prst="rect">
            <a:avLst/>
          </a:prstGeom>
          <a:noFill/>
          <a:ln/>
        </p:spPr>
        <p:txBody>
          <a:bodyPr wrap="square" lIns="0" tIns="0" rIns="0" bIns="0" rtlCol="0" anchor="ctr">
            <a:normAutofit/>
          </a:bodyPr>
          <a:lstStyle/>
          <a:p>
            <a:pPr marL="0" indent="0" algn="ctr">
              <a:buNone/>
            </a:pPr>
            <a:r>
              <a:rPr lang="en-US" sz="1600" b="1" dirty="0">
                <a:solidFill>
                  <a:srgbClr val="1C2430"/>
                </a:solidFill>
              </a:rPr>
              <a:t>Cycle Repeats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74320"/>
            <a:ext cx="8046720" cy="411480"/>
          </a:xfrm>
          <a:prstGeom prst="rect">
            <a:avLst/>
          </a:prstGeom>
          <a:noFill/>
          <a:ln/>
        </p:spPr>
        <p:txBody>
          <a:bodyPr wrap="square" lIns="0" tIns="0" rIns="0" bIns="0" rtlCol="0" anchor="ctr"/>
          <a:lstStyle/>
          <a:p>
            <a:pPr marL="0" indent="0">
              <a:buNone/>
            </a:pPr>
            <a:r>
              <a:rPr lang="en-US" sz="2600" b="1" dirty="0">
                <a:solidFill>
                  <a:srgbClr val="17324D"/>
                </a:solidFill>
                <a:latin typeface="Aptos Display" pitchFamily="34" charset="0"/>
                <a:ea typeface="Aptos Display" pitchFamily="34" charset="-122"/>
                <a:cs typeface="Aptos Display" pitchFamily="34" charset="-120"/>
              </a:rPr>
              <a:t>Monte Carlo Intuition</a:t>
            </a:r>
            <a:endParaRPr lang="en-US" sz="2600" dirty="0"/>
          </a:p>
        </p:txBody>
      </p:sp>
      <p:sp>
        <p:nvSpPr>
          <p:cNvPr id="3" name="Text 1"/>
          <p:cNvSpPr/>
          <p:nvPr/>
        </p:nvSpPr>
        <p:spPr>
          <a:xfrm>
            <a:off x="530352" y="713232"/>
            <a:ext cx="8229600" cy="228600"/>
          </a:xfrm>
          <a:prstGeom prst="rect">
            <a:avLst/>
          </a:prstGeom>
          <a:noFill/>
          <a:ln/>
        </p:spPr>
        <p:txBody>
          <a:bodyPr wrap="square" lIns="0" tIns="0" rIns="0" bIns="0" rtlCol="0" anchor="ctr"/>
          <a:lstStyle/>
          <a:p>
            <a:pPr marL="0" indent="0">
              <a:buNone/>
            </a:pPr>
            <a:r>
              <a:rPr lang="en-US" sz="1050" dirty="0">
                <a:solidFill>
                  <a:srgbClr val="5A6472"/>
                </a:solidFill>
              </a:rPr>
              <a:t>Estimate a deterministic quantity by averaging many random histories</a:t>
            </a:r>
            <a:endParaRPr lang="en-US" sz="1050" dirty="0"/>
          </a:p>
        </p:txBody>
      </p:sp>
      <p:sp>
        <p:nvSpPr>
          <p:cNvPr id="4" name="Shape 2"/>
          <p:cNvSpPr/>
          <p:nvPr/>
        </p:nvSpPr>
        <p:spPr>
          <a:xfrm>
            <a:off x="502920" y="1033272"/>
            <a:ext cx="11155680" cy="0"/>
          </a:xfrm>
          <a:prstGeom prst="line">
            <a:avLst/>
          </a:prstGeom>
          <a:noFill/>
          <a:ln w="15240">
            <a:solidFill>
              <a:srgbClr val="DCEBFA"/>
            </a:solidFill>
            <a:prstDash val="solid"/>
          </a:ln>
        </p:spPr>
        <p:txBody>
          <a:bodyPr/>
          <a:lstStyle/>
          <a:p>
            <a:endParaRPr lang="en-US"/>
          </a:p>
        </p:txBody>
      </p:sp>
      <p:sp>
        <p:nvSpPr>
          <p:cNvPr id="19" name="Text 17"/>
          <p:cNvSpPr/>
          <p:nvPr/>
        </p:nvSpPr>
        <p:spPr>
          <a:xfrm>
            <a:off x="1188720" y="4754880"/>
            <a:ext cx="2377440" cy="274320"/>
          </a:xfrm>
          <a:prstGeom prst="rect">
            <a:avLst/>
          </a:prstGeom>
          <a:noFill/>
          <a:ln/>
        </p:spPr>
        <p:txBody>
          <a:bodyPr wrap="square" lIns="0" tIns="0" rIns="0" bIns="0" rtlCol="0" anchor="ctr"/>
          <a:lstStyle/>
          <a:p>
            <a:pPr marL="0" indent="0" algn="ctr">
              <a:buNone/>
            </a:pPr>
            <a:r>
              <a:rPr lang="en-US" sz="1800" b="1" dirty="0">
                <a:solidFill>
                  <a:srgbClr val="17324D"/>
                </a:solidFill>
              </a:rPr>
              <a:t>π example</a:t>
            </a:r>
            <a:endParaRPr lang="en-US" sz="1800" dirty="0"/>
          </a:p>
        </p:txBody>
      </p:sp>
      <p:sp>
        <p:nvSpPr>
          <p:cNvPr id="20" name="Text 18"/>
          <p:cNvSpPr/>
          <p:nvPr/>
        </p:nvSpPr>
        <p:spPr>
          <a:xfrm>
            <a:off x="4663440" y="1371600"/>
            <a:ext cx="6309360" cy="2971800"/>
          </a:xfrm>
          <a:prstGeom prst="rect">
            <a:avLst/>
          </a:prstGeom>
          <a:noFill/>
          <a:ln/>
        </p:spPr>
        <p:txBody>
          <a:bodyPr wrap="square" lIns="635" tIns="635" rIns="635" bIns="635" rtlCol="0" anchor="ctr">
            <a:normAutofit/>
          </a:bodyPr>
          <a:lstStyle/>
          <a:p>
            <a:pPr marL="342900" indent="-342900">
              <a:buFont typeface="Arial" panose="020B0604020202020204" pitchFamily="34" charset="0"/>
              <a:buChar char="•"/>
            </a:pPr>
            <a:r>
              <a:rPr lang="en-US" sz="1900" dirty="0">
                <a:solidFill>
                  <a:srgbClr val="1C2430"/>
                </a:solidFill>
              </a:rPr>
              <a:t>Randomly sample many points or particle histories and average the outcomes of those samples.</a:t>
            </a:r>
          </a:p>
          <a:p>
            <a:pPr marL="342900" indent="-342900">
              <a:buFont typeface="Arial" panose="020B0604020202020204" pitchFamily="34" charset="0"/>
              <a:buChar char="•"/>
            </a:pPr>
            <a:endParaRPr lang="en-US" sz="1900" dirty="0"/>
          </a:p>
          <a:p>
            <a:pPr marL="342900" indent="-342900">
              <a:buFont typeface="Arial" panose="020B0604020202020204" pitchFamily="34" charset="0"/>
              <a:buChar char="•"/>
            </a:pPr>
            <a:r>
              <a:rPr lang="en-US" sz="1900" dirty="0">
                <a:solidFill>
                  <a:srgbClr val="1C2430"/>
                </a:solidFill>
              </a:rPr>
              <a:t>Uncertainty decreases as the number of histories increases.</a:t>
            </a:r>
            <a:endParaRPr lang="en-US" sz="1900" dirty="0"/>
          </a:p>
        </p:txBody>
      </p:sp>
      <p:pic>
        <p:nvPicPr>
          <p:cNvPr id="24" name="Picture 23">
            <a:extLst>
              <a:ext uri="{FF2B5EF4-FFF2-40B4-BE49-F238E27FC236}">
                <a16:creationId xmlns:a16="http://schemas.microsoft.com/office/drawing/2014/main" id="{0618CA10-8505-D733-A547-E2DB3567F31A}"/>
              </a:ext>
            </a:extLst>
          </p:cNvPr>
          <p:cNvPicPr>
            <a:picLocks noChangeAspect="1"/>
          </p:cNvPicPr>
          <p:nvPr/>
        </p:nvPicPr>
        <p:blipFill>
          <a:blip r:embed="rId3"/>
          <a:stretch>
            <a:fillRect/>
          </a:stretch>
        </p:blipFill>
        <p:spPr>
          <a:xfrm>
            <a:off x="502920" y="1169111"/>
            <a:ext cx="3527082" cy="3540049"/>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D2AF4F98-6B0C-3DAC-59FB-49231AA849AF}"/>
                  </a:ext>
                </a:extLst>
              </p:cNvPr>
              <p:cNvSpPr txBox="1"/>
              <p:nvPr/>
            </p:nvSpPr>
            <p:spPr>
              <a:xfrm>
                <a:off x="502920" y="5331279"/>
                <a:ext cx="3730262" cy="1339534"/>
              </a:xfrm>
              <a:prstGeom prst="rect">
                <a:avLst/>
              </a:prstGeom>
              <a:noFill/>
            </p:spPr>
            <p:txBody>
              <a:bodyPr wrap="square" rtlCol="0">
                <a:spAutoFit/>
              </a:bodyPr>
              <a:lstStyle/>
              <a:p>
                <a:r>
                  <a:rPr lang="en-US" dirty="0"/>
                  <a:t>Randomly generate two numbers, x and y, in [0, 1]. If </a:t>
                </a:r>
                <a:r>
                  <a:rPr lang="en-US" dirty="0">
                    <a:latin typeface="Cambria Math" panose="02040503050406030204" pitchFamily="18" charset="0"/>
                    <a:ea typeface="Cambria Math" panose="02040503050406030204" pitchFamily="18" charset="0"/>
                  </a:rPr>
                  <a:t>r ≤ 1 </a:t>
                </a:r>
                <a:r>
                  <a:rPr lang="en-US" dirty="0"/>
                  <a:t>then point is in circle. Area of circle quadrant / area of square = </a:t>
                </a:r>
                <a14:m>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𝜋</m:t>
                        </m:r>
                      </m:num>
                      <m:den>
                        <m:r>
                          <a:rPr lang="en-US" b="0" i="1" smtClean="0">
                            <a:latin typeface="Cambria Math" panose="02040503050406030204" pitchFamily="18" charset="0"/>
                          </a:rPr>
                          <m:t>4</m:t>
                        </m:r>
                      </m:den>
                    </m:f>
                  </m:oMath>
                </a14:m>
                <a:r>
                  <a:rPr lang="en-US" dirty="0"/>
                  <a:t>.</a:t>
                </a:r>
              </a:p>
            </p:txBody>
          </p:sp>
        </mc:Choice>
        <mc:Fallback xmlns="">
          <p:sp>
            <p:nvSpPr>
              <p:cNvPr id="25" name="TextBox 24">
                <a:extLst>
                  <a:ext uri="{FF2B5EF4-FFF2-40B4-BE49-F238E27FC236}">
                    <a16:creationId xmlns:a16="http://schemas.microsoft.com/office/drawing/2014/main" id="{D2AF4F98-6B0C-3DAC-59FB-49231AA849AF}"/>
                  </a:ext>
                </a:extLst>
              </p:cNvPr>
              <p:cNvSpPr txBox="1">
                <a:spLocks noRot="1" noChangeAspect="1" noMove="1" noResize="1" noEditPoints="1" noAdjustHandles="1" noChangeArrowheads="1" noChangeShapeType="1" noTextEdit="1"/>
              </p:cNvSpPr>
              <p:nvPr/>
            </p:nvSpPr>
            <p:spPr>
              <a:xfrm>
                <a:off x="502920" y="5331279"/>
                <a:ext cx="3730262" cy="1339534"/>
              </a:xfrm>
              <a:prstGeom prst="rect">
                <a:avLst/>
              </a:prstGeom>
              <a:blipFill>
                <a:blip r:embed="rId4"/>
                <a:stretch>
                  <a:fillRect l="-1473" t="-2283" r="-164"/>
                </a:stretch>
              </a:blipFill>
            </p:spPr>
            <p:txBody>
              <a:bodyPr/>
              <a:lstStyle/>
              <a:p>
                <a:r>
                  <a:rPr 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16D58-B7DD-620D-6BB3-2AED7561A0C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5A2F3B2-3F7A-F402-D0BA-426B7756BBCD}"/>
              </a:ext>
            </a:extLst>
          </p:cNvPr>
          <p:cNvSpPr/>
          <p:nvPr/>
        </p:nvSpPr>
        <p:spPr>
          <a:xfrm>
            <a:off x="502920" y="274320"/>
            <a:ext cx="8046720" cy="411480"/>
          </a:xfrm>
          <a:prstGeom prst="rect">
            <a:avLst/>
          </a:prstGeom>
          <a:noFill/>
          <a:ln/>
        </p:spPr>
        <p:txBody>
          <a:bodyPr wrap="square" lIns="0" tIns="0" rIns="0" bIns="0" rtlCol="0" anchor="ctr"/>
          <a:lstStyle/>
          <a:p>
            <a:pPr marL="0" indent="0">
              <a:buNone/>
            </a:pPr>
            <a:r>
              <a:rPr lang="en-US" sz="2600" b="1" dirty="0">
                <a:solidFill>
                  <a:srgbClr val="17324D"/>
                </a:solidFill>
                <a:latin typeface="Aptos Display" pitchFamily="34" charset="0"/>
                <a:ea typeface="Aptos Display" pitchFamily="34" charset="-122"/>
                <a:cs typeface="Aptos Display" pitchFamily="34" charset="-120"/>
              </a:rPr>
              <a:t>MCNP’s Specific Procedure to Estimate </a:t>
            </a:r>
            <a:r>
              <a:rPr lang="en-US" sz="2600" b="1" dirty="0" err="1">
                <a:solidFill>
                  <a:srgbClr val="17324D"/>
                </a:solidFill>
                <a:latin typeface="Aptos Display" pitchFamily="34" charset="0"/>
                <a:ea typeface="Aptos Display" pitchFamily="34" charset="-122"/>
                <a:cs typeface="Aptos Display" pitchFamily="34" charset="-120"/>
              </a:rPr>
              <a:t>k</a:t>
            </a:r>
            <a:r>
              <a:rPr lang="en-US" sz="2600" b="1" baseline="-25000" dirty="0" err="1">
                <a:solidFill>
                  <a:srgbClr val="17324D"/>
                </a:solidFill>
                <a:latin typeface="Aptos Display" pitchFamily="34" charset="0"/>
                <a:ea typeface="Aptos Display" pitchFamily="34" charset="-122"/>
                <a:cs typeface="Aptos Display" pitchFamily="34" charset="-120"/>
              </a:rPr>
              <a:t>eff</a:t>
            </a:r>
            <a:endParaRPr lang="en-US" sz="2600" dirty="0"/>
          </a:p>
        </p:txBody>
      </p:sp>
      <p:sp>
        <p:nvSpPr>
          <p:cNvPr id="3" name="Text 1">
            <a:extLst>
              <a:ext uri="{FF2B5EF4-FFF2-40B4-BE49-F238E27FC236}">
                <a16:creationId xmlns:a16="http://schemas.microsoft.com/office/drawing/2014/main" id="{95C73CE9-24D4-276A-235C-79B7706C1B4A}"/>
              </a:ext>
            </a:extLst>
          </p:cNvPr>
          <p:cNvSpPr/>
          <p:nvPr/>
        </p:nvSpPr>
        <p:spPr>
          <a:xfrm>
            <a:off x="530352" y="713232"/>
            <a:ext cx="8229600" cy="228600"/>
          </a:xfrm>
          <a:prstGeom prst="rect">
            <a:avLst/>
          </a:prstGeom>
          <a:noFill/>
          <a:ln/>
        </p:spPr>
        <p:txBody>
          <a:bodyPr wrap="square" lIns="0" tIns="0" rIns="0" bIns="0" rtlCol="0" anchor="ctr"/>
          <a:lstStyle/>
          <a:p>
            <a:pPr marL="0" indent="0">
              <a:buNone/>
            </a:pPr>
            <a:r>
              <a:rPr lang="en-US" sz="1050" dirty="0">
                <a:solidFill>
                  <a:srgbClr val="5A6472"/>
                </a:solidFill>
              </a:rPr>
              <a:t>How does MCNP estimate </a:t>
            </a:r>
            <a:r>
              <a:rPr lang="en-US" sz="1050" dirty="0" err="1">
                <a:solidFill>
                  <a:srgbClr val="5A6472"/>
                </a:solidFill>
              </a:rPr>
              <a:t>k</a:t>
            </a:r>
            <a:r>
              <a:rPr lang="en-US" sz="1050" baseline="-25000" dirty="0" err="1">
                <a:solidFill>
                  <a:srgbClr val="5A6472"/>
                </a:solidFill>
              </a:rPr>
              <a:t>eff</a:t>
            </a:r>
            <a:r>
              <a:rPr lang="en-US" sz="1050" dirty="0">
                <a:solidFill>
                  <a:srgbClr val="5A6472"/>
                </a:solidFill>
              </a:rPr>
              <a:t>?</a:t>
            </a:r>
            <a:endParaRPr lang="en-US" sz="1050" dirty="0"/>
          </a:p>
        </p:txBody>
      </p:sp>
      <p:sp>
        <p:nvSpPr>
          <p:cNvPr id="4" name="Shape 2">
            <a:extLst>
              <a:ext uri="{FF2B5EF4-FFF2-40B4-BE49-F238E27FC236}">
                <a16:creationId xmlns:a16="http://schemas.microsoft.com/office/drawing/2014/main" id="{8772F0BA-4A29-93E9-3078-296C67275DC3}"/>
              </a:ext>
            </a:extLst>
          </p:cNvPr>
          <p:cNvSpPr/>
          <p:nvPr/>
        </p:nvSpPr>
        <p:spPr>
          <a:xfrm>
            <a:off x="502920" y="1033272"/>
            <a:ext cx="11155680" cy="0"/>
          </a:xfrm>
          <a:prstGeom prst="line">
            <a:avLst/>
          </a:prstGeom>
          <a:noFill/>
          <a:ln w="15240">
            <a:solidFill>
              <a:srgbClr val="DCEBFA"/>
            </a:solidFill>
            <a:prstDash val="solid"/>
          </a:ln>
        </p:spPr>
        <p:txBody>
          <a:bodyPr/>
          <a:lstStyle/>
          <a:p>
            <a:endParaRPr lang="en-US"/>
          </a:p>
        </p:txBody>
      </p:sp>
      <p:sp>
        <p:nvSpPr>
          <p:cNvPr id="13" name="Text 11">
            <a:extLst>
              <a:ext uri="{FF2B5EF4-FFF2-40B4-BE49-F238E27FC236}">
                <a16:creationId xmlns:a16="http://schemas.microsoft.com/office/drawing/2014/main" id="{DC190C6B-C6B1-32B8-94DB-AC923B086DBC}"/>
              </a:ext>
            </a:extLst>
          </p:cNvPr>
          <p:cNvSpPr/>
          <p:nvPr/>
        </p:nvSpPr>
        <p:spPr>
          <a:xfrm>
            <a:off x="502919" y="1167499"/>
            <a:ext cx="10567851" cy="4841415"/>
          </a:xfrm>
          <a:prstGeom prst="rect">
            <a:avLst/>
          </a:prstGeom>
          <a:noFill/>
          <a:ln/>
        </p:spPr>
        <p:txBody>
          <a:bodyPr wrap="square" lIns="635" tIns="635" rIns="635" bIns="635" rtlCol="0" anchor="ctr">
            <a:normAutofit/>
          </a:bodyPr>
          <a:lstStyle/>
          <a:p>
            <a:pPr>
              <a:lnSpc>
                <a:spcPct val="150000"/>
              </a:lnSpc>
            </a:pPr>
            <a:r>
              <a:rPr lang="en-US" dirty="0"/>
              <a:t>The Monte Carlo N-Particle (MCNP) code uses Monte Carlo simulations to estimate </a:t>
            </a:r>
            <a:r>
              <a:rPr lang="en-US" dirty="0" err="1"/>
              <a:t>k</a:t>
            </a:r>
            <a:r>
              <a:rPr lang="en-US" baseline="-25000" dirty="0" err="1"/>
              <a:t>eff</a:t>
            </a:r>
            <a:r>
              <a:rPr lang="en-US" dirty="0"/>
              <a:t> for a given geometry of materials. It repeats many cycles in which a first-generation neutron is spawned at a given position and it's (and following-generation neutron's) interactions are simulated. Each cycle involves imposing random walks on the neutron(s), modeling interactions after each step of the walk, and repeating the process for the following generations until </a:t>
            </a:r>
            <a:r>
              <a:rPr lang="en-US" dirty="0" err="1"/>
              <a:t>k</a:t>
            </a:r>
            <a:r>
              <a:rPr lang="en-US" baseline="-25000" dirty="0" err="1"/>
              <a:t>eff</a:t>
            </a:r>
            <a:r>
              <a:rPr lang="en-US" baseline="-25000" dirty="0"/>
              <a:t> </a:t>
            </a:r>
            <a:r>
              <a:rPr lang="en-US" dirty="0"/>
              <a:t>converges whence it can be accurately estimated. During this process, the interaction amplitudes are contained in a large of collection of data to which the MCNP code uses to calculate the probability of an interaction at the given initial and final momenta of the step. Furthermore, the resulting </a:t>
            </a:r>
            <a:r>
              <a:rPr lang="en-US" dirty="0" err="1"/>
              <a:t>k</a:t>
            </a:r>
            <a:r>
              <a:rPr lang="en-US" baseline="-25000" dirty="0" err="1"/>
              <a:t>eff</a:t>
            </a:r>
            <a:r>
              <a:rPr lang="en-US" baseline="-25000" dirty="0"/>
              <a:t> </a:t>
            </a:r>
            <a:r>
              <a:rPr lang="en-US" dirty="0"/>
              <a:t>'s of each individual cycle are averaged to a final </a:t>
            </a:r>
            <a:r>
              <a:rPr lang="en-US" dirty="0" err="1"/>
              <a:t>k</a:t>
            </a:r>
            <a:r>
              <a:rPr lang="en-US" baseline="-25000" dirty="0" err="1"/>
              <a:t>eff</a:t>
            </a:r>
            <a:r>
              <a:rPr lang="en-US" baseline="-25000" dirty="0"/>
              <a:t> </a:t>
            </a:r>
            <a:r>
              <a:rPr lang="en-US" dirty="0"/>
              <a:t>estimate.</a:t>
            </a:r>
          </a:p>
        </p:txBody>
      </p:sp>
    </p:spTree>
    <p:extLst>
      <p:ext uri="{BB962C8B-B14F-4D97-AF65-F5344CB8AC3E}">
        <p14:creationId xmlns:p14="http://schemas.microsoft.com/office/powerpoint/2010/main" val="3447663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74320"/>
            <a:ext cx="8046720" cy="411480"/>
          </a:xfrm>
          <a:prstGeom prst="rect">
            <a:avLst/>
          </a:prstGeom>
          <a:noFill/>
          <a:ln/>
        </p:spPr>
        <p:txBody>
          <a:bodyPr wrap="square" lIns="0" tIns="0" rIns="0" bIns="0" rtlCol="0" anchor="ctr"/>
          <a:lstStyle/>
          <a:p>
            <a:pPr marL="0" indent="0">
              <a:buNone/>
            </a:pPr>
            <a:r>
              <a:rPr lang="en-US" sz="2600" b="1" dirty="0">
                <a:solidFill>
                  <a:srgbClr val="17324D"/>
                </a:solidFill>
                <a:latin typeface="Aptos Display" pitchFamily="34" charset="0"/>
                <a:ea typeface="Aptos Display" pitchFamily="34" charset="-122"/>
                <a:cs typeface="Aptos Display" pitchFamily="34" charset="-120"/>
              </a:rPr>
              <a:t>How the MCNP model is organized</a:t>
            </a:r>
            <a:endParaRPr lang="en-US" sz="2600" dirty="0"/>
          </a:p>
        </p:txBody>
      </p:sp>
      <p:sp>
        <p:nvSpPr>
          <p:cNvPr id="3" name="Text 1"/>
          <p:cNvSpPr/>
          <p:nvPr/>
        </p:nvSpPr>
        <p:spPr>
          <a:xfrm>
            <a:off x="530352" y="713232"/>
            <a:ext cx="8229600" cy="228600"/>
          </a:xfrm>
          <a:prstGeom prst="rect">
            <a:avLst/>
          </a:prstGeom>
          <a:noFill/>
          <a:ln/>
        </p:spPr>
        <p:txBody>
          <a:bodyPr wrap="square" lIns="0" tIns="0" rIns="0" bIns="0" rtlCol="0" anchor="ctr"/>
          <a:lstStyle/>
          <a:p>
            <a:pPr marL="0" indent="0">
              <a:buNone/>
            </a:pPr>
            <a:r>
              <a:rPr lang="en-US" sz="1050" dirty="0">
                <a:solidFill>
                  <a:srgbClr val="5A6472"/>
                </a:solidFill>
              </a:rPr>
              <a:t>Three card types define the simulation</a:t>
            </a:r>
            <a:endParaRPr lang="en-US" sz="1050" dirty="0"/>
          </a:p>
        </p:txBody>
      </p:sp>
      <p:sp>
        <p:nvSpPr>
          <p:cNvPr id="4" name="Shape 2"/>
          <p:cNvSpPr/>
          <p:nvPr/>
        </p:nvSpPr>
        <p:spPr>
          <a:xfrm>
            <a:off x="502920" y="1033272"/>
            <a:ext cx="11155680" cy="0"/>
          </a:xfrm>
          <a:prstGeom prst="line">
            <a:avLst/>
          </a:prstGeom>
          <a:noFill/>
          <a:ln w="15240">
            <a:solidFill>
              <a:srgbClr val="DCEBFA"/>
            </a:solidFill>
            <a:prstDash val="solid"/>
          </a:ln>
        </p:spPr>
        <p:txBody>
          <a:bodyPr/>
          <a:lstStyle/>
          <a:p>
            <a:endParaRPr lang="en-US"/>
          </a:p>
        </p:txBody>
      </p:sp>
      <p:sp>
        <p:nvSpPr>
          <p:cNvPr id="5" name="Shape 3"/>
          <p:cNvSpPr/>
          <p:nvPr/>
        </p:nvSpPr>
        <p:spPr>
          <a:xfrm>
            <a:off x="822960" y="1600200"/>
            <a:ext cx="2971800" cy="1280160"/>
          </a:xfrm>
          <a:prstGeom prst="roundRect">
            <a:avLst>
              <a:gd name="adj" fmla="val 5714"/>
            </a:avLst>
          </a:prstGeom>
          <a:solidFill>
            <a:srgbClr val="DCEBFA"/>
          </a:solidFill>
          <a:ln w="15240">
            <a:solidFill>
              <a:srgbClr val="2B6CB0"/>
            </a:solidFill>
            <a:prstDash val="solid"/>
          </a:ln>
        </p:spPr>
        <p:txBody>
          <a:bodyPr/>
          <a:lstStyle/>
          <a:p>
            <a:endParaRPr lang="en-US"/>
          </a:p>
        </p:txBody>
      </p:sp>
      <p:sp>
        <p:nvSpPr>
          <p:cNvPr id="6" name="Text 4"/>
          <p:cNvSpPr/>
          <p:nvPr/>
        </p:nvSpPr>
        <p:spPr>
          <a:xfrm>
            <a:off x="932688" y="1691640"/>
            <a:ext cx="2752344" cy="1097280"/>
          </a:xfrm>
          <a:prstGeom prst="rect">
            <a:avLst/>
          </a:prstGeom>
          <a:noFill/>
          <a:ln/>
        </p:spPr>
        <p:txBody>
          <a:bodyPr wrap="square" lIns="0" tIns="0" rIns="0" bIns="0" rtlCol="0" anchor="ctr">
            <a:normAutofit/>
          </a:bodyPr>
          <a:lstStyle/>
          <a:p>
            <a:pPr marL="0" indent="0" algn="ctr">
              <a:buNone/>
            </a:pPr>
            <a:r>
              <a:rPr lang="en-US" sz="1800" b="1" dirty="0">
                <a:solidFill>
                  <a:srgbClr val="1C2430"/>
                </a:solidFill>
              </a:rPr>
              <a:t>Surface cards</a:t>
            </a:r>
            <a:endParaRPr lang="en-US" sz="1800" dirty="0"/>
          </a:p>
          <a:p>
            <a:pPr marL="0" indent="0" algn="ctr">
              <a:buNone/>
            </a:pPr>
            <a:r>
              <a:rPr lang="en-US" sz="1800" b="1" dirty="0">
                <a:solidFill>
                  <a:srgbClr val="1C2430"/>
                </a:solidFill>
              </a:rPr>
              <a:t>Define boundaries and shapes</a:t>
            </a:r>
            <a:endParaRPr lang="en-US" sz="1800" dirty="0"/>
          </a:p>
        </p:txBody>
      </p:sp>
      <p:sp>
        <p:nvSpPr>
          <p:cNvPr id="7" name="Shape 5"/>
          <p:cNvSpPr/>
          <p:nvPr/>
        </p:nvSpPr>
        <p:spPr>
          <a:xfrm>
            <a:off x="4572000" y="1600200"/>
            <a:ext cx="2971800" cy="1280160"/>
          </a:xfrm>
          <a:prstGeom prst="roundRect">
            <a:avLst>
              <a:gd name="adj" fmla="val 5714"/>
            </a:avLst>
          </a:prstGeom>
          <a:solidFill>
            <a:srgbClr val="E6F4EA"/>
          </a:solidFill>
          <a:ln w="15240">
            <a:solidFill>
              <a:srgbClr val="2F855A"/>
            </a:solidFill>
            <a:prstDash val="solid"/>
          </a:ln>
        </p:spPr>
        <p:txBody>
          <a:bodyPr/>
          <a:lstStyle/>
          <a:p>
            <a:endParaRPr lang="en-US"/>
          </a:p>
        </p:txBody>
      </p:sp>
      <p:sp>
        <p:nvSpPr>
          <p:cNvPr id="8" name="Text 6"/>
          <p:cNvSpPr/>
          <p:nvPr/>
        </p:nvSpPr>
        <p:spPr>
          <a:xfrm>
            <a:off x="4681728" y="1691640"/>
            <a:ext cx="2752344" cy="1097280"/>
          </a:xfrm>
          <a:prstGeom prst="rect">
            <a:avLst/>
          </a:prstGeom>
          <a:noFill/>
          <a:ln/>
        </p:spPr>
        <p:txBody>
          <a:bodyPr wrap="square" lIns="0" tIns="0" rIns="0" bIns="0" rtlCol="0" anchor="ctr">
            <a:normAutofit/>
          </a:bodyPr>
          <a:lstStyle/>
          <a:p>
            <a:pPr marL="0" indent="0" algn="ctr">
              <a:buNone/>
            </a:pPr>
            <a:r>
              <a:rPr lang="en-US" sz="1800" b="1" dirty="0">
                <a:solidFill>
                  <a:srgbClr val="1C2430"/>
                </a:solidFill>
              </a:rPr>
              <a:t>Cell cards</a:t>
            </a:r>
            <a:endParaRPr lang="en-US" sz="1800" dirty="0"/>
          </a:p>
          <a:p>
            <a:pPr marL="0" indent="0" algn="ctr">
              <a:buNone/>
            </a:pPr>
            <a:r>
              <a:rPr lang="en-US" sz="1800" b="1" dirty="0">
                <a:solidFill>
                  <a:srgbClr val="1C2430"/>
                </a:solidFill>
              </a:rPr>
              <a:t>Assign materials to volumes</a:t>
            </a:r>
            <a:endParaRPr lang="en-US" sz="1800" dirty="0"/>
          </a:p>
        </p:txBody>
      </p:sp>
      <p:sp>
        <p:nvSpPr>
          <p:cNvPr id="9" name="Shape 7"/>
          <p:cNvSpPr/>
          <p:nvPr/>
        </p:nvSpPr>
        <p:spPr>
          <a:xfrm>
            <a:off x="8321040" y="1600200"/>
            <a:ext cx="2971800" cy="1280160"/>
          </a:xfrm>
          <a:prstGeom prst="roundRect">
            <a:avLst>
              <a:gd name="adj" fmla="val 5714"/>
            </a:avLst>
          </a:prstGeom>
          <a:solidFill>
            <a:srgbClr val="FFF3CD"/>
          </a:solidFill>
          <a:ln w="15240">
            <a:solidFill>
              <a:srgbClr val="F6AD55"/>
            </a:solidFill>
            <a:prstDash val="solid"/>
          </a:ln>
        </p:spPr>
        <p:txBody>
          <a:bodyPr/>
          <a:lstStyle/>
          <a:p>
            <a:endParaRPr lang="en-US"/>
          </a:p>
        </p:txBody>
      </p:sp>
      <p:sp>
        <p:nvSpPr>
          <p:cNvPr id="10" name="Text 8"/>
          <p:cNvSpPr/>
          <p:nvPr/>
        </p:nvSpPr>
        <p:spPr>
          <a:xfrm>
            <a:off x="8430768" y="1691640"/>
            <a:ext cx="2752344" cy="1097280"/>
          </a:xfrm>
          <a:prstGeom prst="rect">
            <a:avLst/>
          </a:prstGeom>
          <a:noFill/>
          <a:ln/>
        </p:spPr>
        <p:txBody>
          <a:bodyPr wrap="square" lIns="0" tIns="0" rIns="0" bIns="0" rtlCol="0" anchor="ctr">
            <a:normAutofit/>
          </a:bodyPr>
          <a:lstStyle/>
          <a:p>
            <a:pPr marL="0" indent="0" algn="ctr">
              <a:buNone/>
            </a:pPr>
            <a:r>
              <a:rPr lang="en-US" sz="1800" b="1" dirty="0">
                <a:solidFill>
                  <a:srgbClr val="1C2430"/>
                </a:solidFill>
              </a:rPr>
              <a:t>Data cards</a:t>
            </a:r>
            <a:endParaRPr lang="en-US" sz="1800" dirty="0"/>
          </a:p>
          <a:p>
            <a:pPr marL="0" indent="0" algn="ctr">
              <a:buNone/>
            </a:pPr>
            <a:r>
              <a:rPr lang="en-US" sz="1800" b="1" dirty="0">
                <a:solidFill>
                  <a:srgbClr val="1C2430"/>
                </a:solidFill>
              </a:rPr>
              <a:t>Define materials + Run Conditions</a:t>
            </a:r>
            <a:endParaRPr lang="en-US" sz="1800" dirty="0"/>
          </a:p>
        </p:txBody>
      </p:sp>
      <p:sp>
        <p:nvSpPr>
          <p:cNvPr id="13" name="Text 11"/>
          <p:cNvSpPr/>
          <p:nvPr/>
        </p:nvSpPr>
        <p:spPr>
          <a:xfrm>
            <a:off x="1234440" y="3657600"/>
            <a:ext cx="9601200" cy="1508760"/>
          </a:xfrm>
          <a:prstGeom prst="rect">
            <a:avLst/>
          </a:prstGeom>
          <a:noFill/>
          <a:ln/>
        </p:spPr>
        <p:txBody>
          <a:bodyPr wrap="square" lIns="635" tIns="635" rIns="635" bIns="635" rtlCol="0" anchor="ctr">
            <a:normAutofit fontScale="92500" lnSpcReduction="20000"/>
          </a:bodyPr>
          <a:lstStyle/>
          <a:p>
            <a:pPr marL="342900" indent="-342900">
              <a:lnSpc>
                <a:spcPct val="150000"/>
              </a:lnSpc>
              <a:buFont typeface="Arial" panose="020B0604020202020204" pitchFamily="34" charset="0"/>
              <a:buChar char="•"/>
            </a:pPr>
            <a:r>
              <a:rPr lang="en-US" sz="2000" dirty="0">
                <a:solidFill>
                  <a:srgbClr val="1C2430"/>
                </a:solidFill>
              </a:rPr>
              <a:t>Surfaces are the geometric boundaries</a:t>
            </a:r>
            <a:endParaRPr lang="en-US" sz="2000" dirty="0"/>
          </a:p>
          <a:p>
            <a:pPr marL="342900" indent="-342900">
              <a:lnSpc>
                <a:spcPct val="150000"/>
              </a:lnSpc>
              <a:buFont typeface="Arial" panose="020B0604020202020204" pitchFamily="34" charset="0"/>
              <a:buChar char="•"/>
            </a:pPr>
            <a:r>
              <a:rPr lang="en-US" sz="2000" dirty="0">
                <a:solidFill>
                  <a:srgbClr val="1C2430"/>
                </a:solidFill>
              </a:rPr>
              <a:t>Cells are the regions or volumes between surfaces</a:t>
            </a:r>
            <a:endParaRPr lang="en-US" sz="2000" dirty="0"/>
          </a:p>
          <a:p>
            <a:pPr marL="342900" indent="-342900">
              <a:lnSpc>
                <a:spcPct val="150000"/>
              </a:lnSpc>
              <a:buFont typeface="Arial" panose="020B0604020202020204" pitchFamily="34" charset="0"/>
              <a:buChar char="•"/>
            </a:pPr>
            <a:r>
              <a:rPr lang="en-US" sz="2000" dirty="0">
                <a:solidFill>
                  <a:srgbClr val="1C2430"/>
                </a:solidFill>
              </a:rPr>
              <a:t>Materials define composition and density</a:t>
            </a:r>
            <a:endParaRPr lang="en-US" sz="2000" dirty="0"/>
          </a:p>
          <a:p>
            <a:pPr marL="342900" indent="-342900">
              <a:lnSpc>
                <a:spcPct val="150000"/>
              </a:lnSpc>
              <a:buFont typeface="Arial" panose="020B0604020202020204" pitchFamily="34" charset="0"/>
              <a:buChar char="•"/>
            </a:pPr>
            <a:r>
              <a:rPr lang="en-US" sz="2000" dirty="0">
                <a:solidFill>
                  <a:srgbClr val="1C2430"/>
                </a:solidFill>
              </a:rPr>
              <a:t>kcode/ksrc define the initial conditions and statistical parameters to estimate </a:t>
            </a:r>
            <a:r>
              <a:rPr lang="en-US" sz="2000" dirty="0" err="1">
                <a:solidFill>
                  <a:srgbClr val="1C2430"/>
                </a:solidFill>
              </a:rPr>
              <a:t>k</a:t>
            </a:r>
            <a:r>
              <a:rPr lang="en-US" sz="2000" baseline="-25000" dirty="0" err="1">
                <a:solidFill>
                  <a:srgbClr val="1C2430"/>
                </a:solidFill>
              </a:rPr>
              <a:t>eff</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F8B24-B353-56C9-E9D7-A04BD581AA3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FEFF92C-F852-7F65-8FCF-93060DF0CFDD}"/>
              </a:ext>
            </a:extLst>
          </p:cNvPr>
          <p:cNvSpPr/>
          <p:nvPr/>
        </p:nvSpPr>
        <p:spPr>
          <a:xfrm>
            <a:off x="502920" y="531168"/>
            <a:ext cx="8046720" cy="411480"/>
          </a:xfrm>
          <a:prstGeom prst="rect">
            <a:avLst/>
          </a:prstGeom>
          <a:noFill/>
          <a:ln/>
        </p:spPr>
        <p:txBody>
          <a:bodyPr wrap="square" lIns="0" tIns="0" rIns="0" bIns="0" rtlCol="0" anchor="ctr"/>
          <a:lstStyle/>
          <a:p>
            <a:pPr marL="0" indent="0">
              <a:buNone/>
            </a:pPr>
            <a:r>
              <a:rPr lang="en-US" sz="2600" b="1" dirty="0">
                <a:solidFill>
                  <a:srgbClr val="17324D"/>
                </a:solidFill>
                <a:latin typeface="Aptos Display" pitchFamily="34" charset="0"/>
                <a:ea typeface="Aptos Display" pitchFamily="34" charset="-122"/>
                <a:cs typeface="Aptos Display" pitchFamily="34" charset="-120"/>
              </a:rPr>
              <a:t>Surface Cards Example</a:t>
            </a:r>
            <a:endParaRPr lang="en-US" sz="2600" dirty="0"/>
          </a:p>
        </p:txBody>
      </p:sp>
      <p:sp>
        <p:nvSpPr>
          <p:cNvPr id="4" name="Shape 2">
            <a:extLst>
              <a:ext uri="{FF2B5EF4-FFF2-40B4-BE49-F238E27FC236}">
                <a16:creationId xmlns:a16="http://schemas.microsoft.com/office/drawing/2014/main" id="{E34ACD90-7D2E-EE59-EF16-04BD1C106416}"/>
              </a:ext>
            </a:extLst>
          </p:cNvPr>
          <p:cNvSpPr/>
          <p:nvPr/>
        </p:nvSpPr>
        <p:spPr>
          <a:xfrm>
            <a:off x="502920" y="1033272"/>
            <a:ext cx="11155680" cy="0"/>
          </a:xfrm>
          <a:prstGeom prst="line">
            <a:avLst/>
          </a:prstGeom>
          <a:noFill/>
          <a:ln w="15240">
            <a:solidFill>
              <a:srgbClr val="DCEBFA"/>
            </a:solidFill>
            <a:prstDash val="solid"/>
          </a:ln>
        </p:spPr>
        <p:txBody>
          <a:bodyPr/>
          <a:lstStyle/>
          <a:p>
            <a:endParaRPr lang="en-US"/>
          </a:p>
        </p:txBody>
      </p:sp>
      <p:sp>
        <p:nvSpPr>
          <p:cNvPr id="5" name="Shape 3">
            <a:extLst>
              <a:ext uri="{FF2B5EF4-FFF2-40B4-BE49-F238E27FC236}">
                <a16:creationId xmlns:a16="http://schemas.microsoft.com/office/drawing/2014/main" id="{B7683232-F5A7-730A-8226-6027CDA68F6A}"/>
              </a:ext>
            </a:extLst>
          </p:cNvPr>
          <p:cNvSpPr/>
          <p:nvPr/>
        </p:nvSpPr>
        <p:spPr>
          <a:xfrm>
            <a:off x="822959" y="1359355"/>
            <a:ext cx="9676312" cy="4886324"/>
          </a:xfrm>
          <a:prstGeom prst="roundRect">
            <a:avLst>
              <a:gd name="adj" fmla="val 5714"/>
            </a:avLst>
          </a:prstGeom>
          <a:solidFill>
            <a:srgbClr val="DCEBFA"/>
          </a:solidFill>
          <a:ln w="15240">
            <a:solidFill>
              <a:srgbClr val="2B6CB0"/>
            </a:solidFill>
            <a:prstDash val="solid"/>
          </a:ln>
        </p:spPr>
        <p:txBody>
          <a:bodyPr/>
          <a:lstStyle/>
          <a:p>
            <a:endParaRPr lang="en-US"/>
          </a:p>
        </p:txBody>
      </p:sp>
      <p:pic>
        <p:nvPicPr>
          <p:cNvPr id="12" name="Picture 11">
            <a:extLst>
              <a:ext uri="{FF2B5EF4-FFF2-40B4-BE49-F238E27FC236}">
                <a16:creationId xmlns:a16="http://schemas.microsoft.com/office/drawing/2014/main" id="{9681B3DF-2FBB-D85B-4084-5BED9059C6F9}"/>
              </a:ext>
            </a:extLst>
          </p:cNvPr>
          <p:cNvPicPr>
            <a:picLocks noChangeAspect="1"/>
          </p:cNvPicPr>
          <p:nvPr/>
        </p:nvPicPr>
        <p:blipFill>
          <a:blip r:embed="rId3"/>
          <a:srcRect r="61462"/>
          <a:stretch>
            <a:fillRect/>
          </a:stretch>
        </p:blipFill>
        <p:spPr>
          <a:xfrm>
            <a:off x="1442662" y="1891703"/>
            <a:ext cx="8436906" cy="3821627"/>
          </a:xfrm>
          <a:prstGeom prst="rect">
            <a:avLst/>
          </a:prstGeom>
        </p:spPr>
      </p:pic>
    </p:spTree>
    <p:extLst>
      <p:ext uri="{BB962C8B-B14F-4D97-AF65-F5344CB8AC3E}">
        <p14:creationId xmlns:p14="http://schemas.microsoft.com/office/powerpoint/2010/main" val="254321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417C1-A53B-233D-BAE8-395E1B66934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5CE00F1-9D2F-B13F-4871-0AB3F103E0BF}"/>
              </a:ext>
            </a:extLst>
          </p:cNvPr>
          <p:cNvSpPr/>
          <p:nvPr/>
        </p:nvSpPr>
        <p:spPr>
          <a:xfrm>
            <a:off x="502920" y="531168"/>
            <a:ext cx="8046720" cy="411480"/>
          </a:xfrm>
          <a:prstGeom prst="rect">
            <a:avLst/>
          </a:prstGeom>
          <a:noFill/>
          <a:ln/>
        </p:spPr>
        <p:txBody>
          <a:bodyPr wrap="square" lIns="0" tIns="0" rIns="0" bIns="0" rtlCol="0" anchor="ctr"/>
          <a:lstStyle/>
          <a:p>
            <a:pPr marL="0" indent="0">
              <a:buNone/>
            </a:pPr>
            <a:r>
              <a:rPr lang="en-US" sz="2600" b="1" dirty="0">
                <a:solidFill>
                  <a:srgbClr val="17324D"/>
                </a:solidFill>
                <a:latin typeface="Aptos Display" pitchFamily="34" charset="0"/>
                <a:ea typeface="Aptos Display" pitchFamily="34" charset="-122"/>
                <a:cs typeface="Aptos Display" pitchFamily="34" charset="-120"/>
              </a:rPr>
              <a:t>Cell Cards Example</a:t>
            </a:r>
            <a:endParaRPr lang="en-US" sz="2600" dirty="0"/>
          </a:p>
        </p:txBody>
      </p:sp>
      <p:sp>
        <p:nvSpPr>
          <p:cNvPr id="4" name="Shape 2">
            <a:extLst>
              <a:ext uri="{FF2B5EF4-FFF2-40B4-BE49-F238E27FC236}">
                <a16:creationId xmlns:a16="http://schemas.microsoft.com/office/drawing/2014/main" id="{5040B0F7-8F2D-145E-D23E-8D02A677C293}"/>
              </a:ext>
            </a:extLst>
          </p:cNvPr>
          <p:cNvSpPr/>
          <p:nvPr/>
        </p:nvSpPr>
        <p:spPr>
          <a:xfrm>
            <a:off x="502920" y="1033272"/>
            <a:ext cx="11155680" cy="0"/>
          </a:xfrm>
          <a:prstGeom prst="line">
            <a:avLst/>
          </a:prstGeom>
          <a:noFill/>
          <a:ln w="15240">
            <a:solidFill>
              <a:srgbClr val="DCEBFA"/>
            </a:solidFill>
            <a:prstDash val="solid"/>
          </a:ln>
        </p:spPr>
        <p:txBody>
          <a:bodyPr/>
          <a:lstStyle/>
          <a:p>
            <a:endParaRPr lang="en-US"/>
          </a:p>
        </p:txBody>
      </p:sp>
      <p:grpSp>
        <p:nvGrpSpPr>
          <p:cNvPr id="8" name="Group 7">
            <a:extLst>
              <a:ext uri="{FF2B5EF4-FFF2-40B4-BE49-F238E27FC236}">
                <a16:creationId xmlns:a16="http://schemas.microsoft.com/office/drawing/2014/main" id="{BF1C38B2-B01F-6606-6B3C-7DA73AD3AAE7}"/>
              </a:ext>
            </a:extLst>
          </p:cNvPr>
          <p:cNvGrpSpPr/>
          <p:nvPr/>
        </p:nvGrpSpPr>
        <p:grpSpPr>
          <a:xfrm>
            <a:off x="623887" y="1583871"/>
            <a:ext cx="10944225" cy="4554038"/>
            <a:chOff x="714374" y="1583871"/>
            <a:chExt cx="10944225" cy="4554038"/>
          </a:xfrm>
        </p:grpSpPr>
        <p:sp>
          <p:nvSpPr>
            <p:cNvPr id="3" name="Shape 5">
              <a:extLst>
                <a:ext uri="{FF2B5EF4-FFF2-40B4-BE49-F238E27FC236}">
                  <a16:creationId xmlns:a16="http://schemas.microsoft.com/office/drawing/2014/main" id="{FD73AA66-FB41-2B0E-C08E-5040B1700DDC}"/>
                </a:ext>
              </a:extLst>
            </p:cNvPr>
            <p:cNvSpPr/>
            <p:nvPr/>
          </p:nvSpPr>
          <p:spPr>
            <a:xfrm>
              <a:off x="714374" y="1583871"/>
              <a:ext cx="10944225" cy="4554038"/>
            </a:xfrm>
            <a:prstGeom prst="roundRect">
              <a:avLst>
                <a:gd name="adj" fmla="val 5714"/>
              </a:avLst>
            </a:prstGeom>
            <a:solidFill>
              <a:srgbClr val="E6F4EA"/>
            </a:solidFill>
            <a:ln w="15240">
              <a:solidFill>
                <a:srgbClr val="2F855A"/>
              </a:solidFill>
              <a:prstDash val="solid"/>
            </a:ln>
          </p:spPr>
          <p:txBody>
            <a:bodyPr/>
            <a:lstStyle/>
            <a:p>
              <a:endParaRPr lang="en-US"/>
            </a:p>
          </p:txBody>
        </p:sp>
        <p:pic>
          <p:nvPicPr>
            <p:cNvPr id="7" name="Picture 6">
              <a:extLst>
                <a:ext uri="{FF2B5EF4-FFF2-40B4-BE49-F238E27FC236}">
                  <a16:creationId xmlns:a16="http://schemas.microsoft.com/office/drawing/2014/main" id="{D53009C3-2C37-6D60-1329-1C7073E31ED2}"/>
                </a:ext>
              </a:extLst>
            </p:cNvPr>
            <p:cNvPicPr>
              <a:picLocks noChangeAspect="1"/>
            </p:cNvPicPr>
            <p:nvPr/>
          </p:nvPicPr>
          <p:blipFill>
            <a:blip r:embed="rId3"/>
            <a:stretch>
              <a:fillRect/>
            </a:stretch>
          </p:blipFill>
          <p:spPr>
            <a:xfrm>
              <a:off x="1437611" y="2493861"/>
              <a:ext cx="9497750" cy="2734057"/>
            </a:xfrm>
            <a:prstGeom prst="rect">
              <a:avLst/>
            </a:prstGeom>
          </p:spPr>
        </p:pic>
      </p:grpSp>
    </p:spTree>
    <p:extLst>
      <p:ext uri="{BB962C8B-B14F-4D97-AF65-F5344CB8AC3E}">
        <p14:creationId xmlns:p14="http://schemas.microsoft.com/office/powerpoint/2010/main" val="2912138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51542-4A60-A624-2B34-3D10E5173FC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77FB38D-B2AA-C752-0ECD-D9D74DD5309C}"/>
              </a:ext>
            </a:extLst>
          </p:cNvPr>
          <p:cNvSpPr/>
          <p:nvPr/>
        </p:nvSpPr>
        <p:spPr>
          <a:xfrm>
            <a:off x="502920" y="531168"/>
            <a:ext cx="8046720" cy="411480"/>
          </a:xfrm>
          <a:prstGeom prst="rect">
            <a:avLst/>
          </a:prstGeom>
          <a:noFill/>
          <a:ln/>
        </p:spPr>
        <p:txBody>
          <a:bodyPr wrap="square" lIns="0" tIns="0" rIns="0" bIns="0" rtlCol="0" anchor="ctr"/>
          <a:lstStyle/>
          <a:p>
            <a:pPr marL="0" indent="0">
              <a:buNone/>
            </a:pPr>
            <a:r>
              <a:rPr lang="en-US" sz="2600" b="1" dirty="0">
                <a:solidFill>
                  <a:srgbClr val="17324D"/>
                </a:solidFill>
                <a:latin typeface="Aptos Display" pitchFamily="34" charset="0"/>
                <a:ea typeface="Aptos Display" pitchFamily="34" charset="-122"/>
                <a:cs typeface="Aptos Display" pitchFamily="34" charset="-120"/>
              </a:rPr>
              <a:t>Data Cards Example</a:t>
            </a:r>
            <a:endParaRPr lang="en-US" sz="2600" dirty="0"/>
          </a:p>
        </p:txBody>
      </p:sp>
      <p:sp>
        <p:nvSpPr>
          <p:cNvPr id="4" name="Shape 2">
            <a:extLst>
              <a:ext uri="{FF2B5EF4-FFF2-40B4-BE49-F238E27FC236}">
                <a16:creationId xmlns:a16="http://schemas.microsoft.com/office/drawing/2014/main" id="{24D6E05A-9F2C-6767-6953-B39A3AF6141E}"/>
              </a:ext>
            </a:extLst>
          </p:cNvPr>
          <p:cNvSpPr/>
          <p:nvPr/>
        </p:nvSpPr>
        <p:spPr>
          <a:xfrm>
            <a:off x="502920" y="1033272"/>
            <a:ext cx="11155680" cy="0"/>
          </a:xfrm>
          <a:prstGeom prst="line">
            <a:avLst/>
          </a:prstGeom>
          <a:noFill/>
          <a:ln w="15240">
            <a:solidFill>
              <a:srgbClr val="DCEBFA"/>
            </a:solidFill>
            <a:prstDash val="solid"/>
          </a:ln>
        </p:spPr>
        <p:txBody>
          <a:bodyPr/>
          <a:lstStyle/>
          <a:p>
            <a:endParaRPr lang="en-US"/>
          </a:p>
        </p:txBody>
      </p:sp>
      <p:grpSp>
        <p:nvGrpSpPr>
          <p:cNvPr id="9" name="Group 8">
            <a:extLst>
              <a:ext uri="{FF2B5EF4-FFF2-40B4-BE49-F238E27FC236}">
                <a16:creationId xmlns:a16="http://schemas.microsoft.com/office/drawing/2014/main" id="{B5396F65-A305-AA5F-63A9-F4F0E0E39A65}"/>
              </a:ext>
            </a:extLst>
          </p:cNvPr>
          <p:cNvGrpSpPr/>
          <p:nvPr/>
        </p:nvGrpSpPr>
        <p:grpSpPr>
          <a:xfrm>
            <a:off x="502918" y="1247666"/>
            <a:ext cx="11155681" cy="4840391"/>
            <a:chOff x="502918" y="1247666"/>
            <a:chExt cx="11155681" cy="4840391"/>
          </a:xfrm>
        </p:grpSpPr>
        <p:sp>
          <p:nvSpPr>
            <p:cNvPr id="6" name="Shape 7">
              <a:extLst>
                <a:ext uri="{FF2B5EF4-FFF2-40B4-BE49-F238E27FC236}">
                  <a16:creationId xmlns:a16="http://schemas.microsoft.com/office/drawing/2014/main" id="{D13F36D7-946F-544B-AFF8-855777427FAA}"/>
                </a:ext>
              </a:extLst>
            </p:cNvPr>
            <p:cNvSpPr/>
            <p:nvPr/>
          </p:nvSpPr>
          <p:spPr>
            <a:xfrm>
              <a:off x="502918" y="1247666"/>
              <a:ext cx="11155681" cy="4840391"/>
            </a:xfrm>
            <a:prstGeom prst="roundRect">
              <a:avLst>
                <a:gd name="adj" fmla="val 5714"/>
              </a:avLst>
            </a:prstGeom>
            <a:solidFill>
              <a:srgbClr val="FFF3CD"/>
            </a:solidFill>
            <a:ln w="15240">
              <a:solidFill>
                <a:srgbClr val="F6AD55"/>
              </a:solidFill>
              <a:prstDash val="solid"/>
            </a:ln>
          </p:spPr>
          <p:txBody>
            <a:bodyPr/>
            <a:lstStyle/>
            <a:p>
              <a:endParaRPr lang="en-US"/>
            </a:p>
          </p:txBody>
        </p:sp>
        <p:pic>
          <p:nvPicPr>
            <p:cNvPr id="8" name="Picture 7">
              <a:extLst>
                <a:ext uri="{FF2B5EF4-FFF2-40B4-BE49-F238E27FC236}">
                  <a16:creationId xmlns:a16="http://schemas.microsoft.com/office/drawing/2014/main" id="{1B23CB5B-3877-F548-4D8A-C0AE34BB5511}"/>
                </a:ext>
              </a:extLst>
            </p:cNvPr>
            <p:cNvPicPr>
              <a:picLocks noChangeAspect="1"/>
            </p:cNvPicPr>
            <p:nvPr/>
          </p:nvPicPr>
          <p:blipFill>
            <a:blip r:embed="rId3"/>
            <a:stretch>
              <a:fillRect/>
            </a:stretch>
          </p:blipFill>
          <p:spPr>
            <a:xfrm>
              <a:off x="784860" y="2013666"/>
              <a:ext cx="10591800" cy="3371091"/>
            </a:xfrm>
            <a:prstGeom prst="rect">
              <a:avLst/>
            </a:prstGeom>
          </p:spPr>
        </p:pic>
      </p:grpSp>
    </p:spTree>
    <p:extLst>
      <p:ext uri="{BB962C8B-B14F-4D97-AF65-F5344CB8AC3E}">
        <p14:creationId xmlns:p14="http://schemas.microsoft.com/office/powerpoint/2010/main" val="19939588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74320"/>
            <a:ext cx="8046720" cy="411480"/>
          </a:xfrm>
          <a:prstGeom prst="rect">
            <a:avLst/>
          </a:prstGeom>
          <a:noFill/>
          <a:ln/>
        </p:spPr>
        <p:txBody>
          <a:bodyPr wrap="square" lIns="0" tIns="0" rIns="0" bIns="0" rtlCol="0" anchor="ctr"/>
          <a:lstStyle/>
          <a:p>
            <a:pPr marL="0" indent="0">
              <a:buNone/>
            </a:pPr>
            <a:r>
              <a:rPr lang="en-US" sz="2600" b="1" dirty="0">
                <a:solidFill>
                  <a:srgbClr val="17324D"/>
                </a:solidFill>
                <a:latin typeface="Aptos Display" pitchFamily="34" charset="0"/>
                <a:ea typeface="Aptos Display" pitchFamily="34" charset="-122"/>
                <a:cs typeface="Aptos Display" pitchFamily="34" charset="-120"/>
              </a:rPr>
              <a:t>Scope &amp; Model Constraints</a:t>
            </a:r>
            <a:endParaRPr lang="en-US" sz="2600" dirty="0"/>
          </a:p>
        </p:txBody>
      </p:sp>
      <p:sp>
        <p:nvSpPr>
          <p:cNvPr id="3" name="Text 1"/>
          <p:cNvSpPr/>
          <p:nvPr/>
        </p:nvSpPr>
        <p:spPr>
          <a:xfrm>
            <a:off x="530352" y="713232"/>
            <a:ext cx="8229600" cy="228600"/>
          </a:xfrm>
          <a:prstGeom prst="rect">
            <a:avLst/>
          </a:prstGeom>
          <a:noFill/>
          <a:ln/>
        </p:spPr>
        <p:txBody>
          <a:bodyPr wrap="square" lIns="0" tIns="0" rIns="0" bIns="0" rtlCol="0" anchor="ctr"/>
          <a:lstStyle/>
          <a:p>
            <a:pPr marL="0" indent="0">
              <a:buNone/>
            </a:pPr>
            <a:r>
              <a:rPr lang="en-US" sz="1050" dirty="0">
                <a:solidFill>
                  <a:srgbClr val="5A6472"/>
                </a:solidFill>
              </a:rPr>
              <a:t>What was restricted, and what was idealized</a:t>
            </a:r>
            <a:endParaRPr lang="en-US" sz="1050" dirty="0"/>
          </a:p>
        </p:txBody>
      </p:sp>
      <p:sp>
        <p:nvSpPr>
          <p:cNvPr id="4" name="Shape 2"/>
          <p:cNvSpPr/>
          <p:nvPr/>
        </p:nvSpPr>
        <p:spPr>
          <a:xfrm>
            <a:off x="502920" y="1033272"/>
            <a:ext cx="11155680" cy="0"/>
          </a:xfrm>
          <a:prstGeom prst="line">
            <a:avLst/>
          </a:prstGeom>
          <a:noFill/>
          <a:ln w="15240">
            <a:solidFill>
              <a:srgbClr val="DCEBFA"/>
            </a:solidFill>
            <a:prstDash val="solid"/>
          </a:ln>
        </p:spPr>
        <p:txBody>
          <a:bodyPr/>
          <a:lstStyle/>
          <a:p>
            <a:endParaRPr lang="en-US"/>
          </a:p>
        </p:txBody>
      </p:sp>
      <p:sp>
        <p:nvSpPr>
          <p:cNvPr id="5" name="Text 3"/>
          <p:cNvSpPr/>
          <p:nvPr/>
        </p:nvSpPr>
        <p:spPr>
          <a:xfrm>
            <a:off x="777240" y="1280160"/>
            <a:ext cx="5669280" cy="4491990"/>
          </a:xfrm>
          <a:prstGeom prst="rect">
            <a:avLst/>
          </a:prstGeom>
          <a:noFill/>
          <a:ln/>
        </p:spPr>
        <p:txBody>
          <a:bodyPr wrap="square" lIns="635" tIns="635" rIns="635" bIns="635" rtlCol="0" anchor="ctr">
            <a:normAutofit/>
          </a:bodyPr>
          <a:lstStyle/>
          <a:p>
            <a:pPr marL="285750" indent="-285750">
              <a:lnSpc>
                <a:spcPct val="150000"/>
              </a:lnSpc>
              <a:buFont typeface="Arial" panose="020B0604020202020204" pitchFamily="34" charset="0"/>
              <a:buChar char="•"/>
            </a:pPr>
            <a:r>
              <a:rPr lang="en-US" sz="1800" dirty="0">
                <a:solidFill>
                  <a:srgbClr val="1C2430"/>
                </a:solidFill>
              </a:rPr>
              <a:t>Study used a fixed 18 kg LEU (80-20) mass limit and concentric cylindrical geometry</a:t>
            </a:r>
          </a:p>
          <a:p>
            <a:pPr marL="742950" lvl="1" indent="-285750">
              <a:lnSpc>
                <a:spcPct val="150000"/>
              </a:lnSpc>
              <a:buFont typeface="Arial" panose="020B0604020202020204" pitchFamily="34" charset="0"/>
              <a:buChar char="•"/>
            </a:pPr>
            <a:r>
              <a:rPr lang="en-US" dirty="0">
                <a:solidFill>
                  <a:srgbClr val="1C2430"/>
                </a:solidFill>
                <a:sym typeface="Wingdings" panose="05000000000000000000" pitchFamily="2" charset="2"/>
              </a:rPr>
              <a:t></a:t>
            </a:r>
            <a:r>
              <a:rPr lang="en-US" dirty="0">
                <a:solidFill>
                  <a:srgbClr val="1C2430"/>
                </a:solidFill>
              </a:rPr>
              <a:t> real-world engineering constraints were not included in the idealized model</a:t>
            </a:r>
            <a:endParaRPr lang="en-US" dirty="0"/>
          </a:p>
          <a:p>
            <a:pPr marL="285750" indent="-285750">
              <a:lnSpc>
                <a:spcPct val="150000"/>
              </a:lnSpc>
              <a:buFont typeface="Arial" panose="020B0604020202020204" pitchFamily="34" charset="0"/>
              <a:buChar char="•"/>
            </a:pPr>
            <a:r>
              <a:rPr lang="en-US" sz="1800" dirty="0">
                <a:solidFill>
                  <a:srgbClr val="1C2430"/>
                </a:solidFill>
              </a:rPr>
              <a:t>Water regions were modeled between LEU shells to moderate or slow down neutrons and increase their probability to fission</a:t>
            </a:r>
            <a:endParaRPr lang="en-US" sz="1800" dirty="0"/>
          </a:p>
          <a:p>
            <a:pPr marL="285750" indent="-285750">
              <a:lnSpc>
                <a:spcPct val="150000"/>
              </a:lnSpc>
              <a:buFont typeface="Arial" panose="020B0604020202020204" pitchFamily="34" charset="0"/>
              <a:buChar char="•"/>
            </a:pPr>
            <a:r>
              <a:rPr lang="en-US" sz="1800" dirty="0">
                <a:solidFill>
                  <a:srgbClr val="1C2430"/>
                </a:solidFill>
              </a:rPr>
              <a:t>The study explored geometry sensitivity using repeated MCNP runs in which </a:t>
            </a:r>
            <a:r>
              <a:rPr lang="en-US" sz="1800" dirty="0" err="1">
                <a:solidFill>
                  <a:srgbClr val="1C2430"/>
                </a:solidFill>
              </a:rPr>
              <a:t>k</a:t>
            </a:r>
            <a:r>
              <a:rPr lang="en-US" sz="1800" baseline="-25000" dirty="0" err="1">
                <a:solidFill>
                  <a:srgbClr val="1C2430"/>
                </a:solidFill>
              </a:rPr>
              <a:t>eff</a:t>
            </a:r>
            <a:r>
              <a:rPr lang="en-US" sz="1800" dirty="0">
                <a:solidFill>
                  <a:srgbClr val="1C2430"/>
                </a:solidFill>
              </a:rPr>
              <a:t> was estimated and geometric parameters were adjusted incrementally</a:t>
            </a:r>
            <a:endParaRPr lang="en-US" sz="1800" dirty="0"/>
          </a:p>
        </p:txBody>
      </p:sp>
      <p:sp>
        <p:nvSpPr>
          <p:cNvPr id="7" name="Text 5"/>
          <p:cNvSpPr/>
          <p:nvPr/>
        </p:nvSpPr>
        <p:spPr>
          <a:xfrm>
            <a:off x="6830568" y="1463040"/>
            <a:ext cx="1929384" cy="1691640"/>
          </a:xfrm>
          <a:prstGeom prst="rect">
            <a:avLst/>
          </a:prstGeom>
          <a:noFill/>
          <a:ln/>
        </p:spPr>
        <p:txBody>
          <a:bodyPr wrap="square" lIns="0" tIns="0" rIns="0" bIns="0" rtlCol="0" anchor="ctr">
            <a:normAutofit/>
          </a:bodyPr>
          <a:lstStyle/>
          <a:p>
            <a:pPr marL="0" indent="0" algn="ctr">
              <a:buNone/>
            </a:pPr>
            <a:endParaRPr lang="en-US" sz="1700" dirty="0"/>
          </a:p>
        </p:txBody>
      </p:sp>
      <p:grpSp>
        <p:nvGrpSpPr>
          <p:cNvPr id="29" name="Group 28">
            <a:extLst>
              <a:ext uri="{FF2B5EF4-FFF2-40B4-BE49-F238E27FC236}">
                <a16:creationId xmlns:a16="http://schemas.microsoft.com/office/drawing/2014/main" id="{300C5CE4-696B-0E1C-C095-0F9CE793CFC3}"/>
              </a:ext>
            </a:extLst>
          </p:cNvPr>
          <p:cNvGrpSpPr/>
          <p:nvPr/>
        </p:nvGrpSpPr>
        <p:grpSpPr>
          <a:xfrm>
            <a:off x="7279684" y="2021476"/>
            <a:ext cx="3791359" cy="1827985"/>
            <a:chOff x="7336562" y="3246119"/>
            <a:chExt cx="3791359" cy="1827985"/>
          </a:xfrm>
        </p:grpSpPr>
        <p:sp>
          <p:nvSpPr>
            <p:cNvPr id="6" name="Shape 4"/>
            <p:cNvSpPr/>
            <p:nvPr/>
          </p:nvSpPr>
          <p:spPr>
            <a:xfrm>
              <a:off x="7336562" y="3246119"/>
              <a:ext cx="1247503" cy="1088247"/>
            </a:xfrm>
            <a:prstGeom prst="roundRect">
              <a:avLst>
                <a:gd name="adj" fmla="val 3902"/>
              </a:avLst>
            </a:prstGeom>
            <a:solidFill>
              <a:srgbClr val="DCEBFA"/>
            </a:solidFill>
            <a:ln w="15240">
              <a:solidFill>
                <a:srgbClr val="2B6CB0"/>
              </a:solidFill>
              <a:prstDash val="solid"/>
            </a:ln>
          </p:spPr>
          <p:txBody>
            <a:bodyPr/>
            <a:lstStyle/>
            <a:p>
              <a:endParaRPr lang="en-US"/>
            </a:p>
          </p:txBody>
        </p:sp>
        <p:sp>
          <p:nvSpPr>
            <p:cNvPr id="8" name="Shape 6"/>
            <p:cNvSpPr/>
            <p:nvPr/>
          </p:nvSpPr>
          <p:spPr>
            <a:xfrm>
              <a:off x="9823540" y="3246119"/>
              <a:ext cx="1247503" cy="1088247"/>
            </a:xfrm>
            <a:prstGeom prst="roundRect">
              <a:avLst>
                <a:gd name="adj" fmla="val 3902"/>
              </a:avLst>
            </a:prstGeom>
            <a:solidFill>
              <a:srgbClr val="FBE4E6"/>
            </a:solidFill>
            <a:ln w="15240">
              <a:solidFill>
                <a:srgbClr val="C44E52"/>
              </a:solidFill>
              <a:prstDash val="solid"/>
            </a:ln>
          </p:spPr>
          <p:txBody>
            <a:bodyPr/>
            <a:lstStyle/>
            <a:p>
              <a:endParaRPr lang="en-US"/>
            </a:p>
          </p:txBody>
        </p:sp>
        <p:cxnSp>
          <p:nvCxnSpPr>
            <p:cNvPr id="19" name="Straight Connector 18">
              <a:extLst>
                <a:ext uri="{FF2B5EF4-FFF2-40B4-BE49-F238E27FC236}">
                  <a16:creationId xmlns:a16="http://schemas.microsoft.com/office/drawing/2014/main" id="{1DC053E1-654E-DE72-C676-8A0954531E1D}"/>
                </a:ext>
              </a:extLst>
            </p:cNvPr>
            <p:cNvCxnSpPr>
              <a:cxnSpLocks/>
            </p:cNvCxnSpPr>
            <p:nvPr/>
          </p:nvCxnSpPr>
          <p:spPr>
            <a:xfrm flipV="1">
              <a:off x="8350430" y="4334366"/>
              <a:ext cx="836840" cy="73973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F0A6D87-5CEF-B1EF-32BA-957BED58E750}"/>
                </a:ext>
              </a:extLst>
            </p:cNvPr>
            <p:cNvCxnSpPr>
              <a:cxnSpLocks/>
            </p:cNvCxnSpPr>
            <p:nvPr/>
          </p:nvCxnSpPr>
          <p:spPr>
            <a:xfrm flipH="1" flipV="1">
              <a:off x="9176657" y="4334366"/>
              <a:ext cx="744854" cy="66625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A9C38D9-75B4-D16B-3FC7-CD4B78834301}"/>
                </a:ext>
              </a:extLst>
            </p:cNvPr>
            <p:cNvCxnSpPr/>
            <p:nvPr/>
          </p:nvCxnSpPr>
          <p:spPr>
            <a:xfrm>
              <a:off x="7344591" y="4334366"/>
              <a:ext cx="378333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74320"/>
            <a:ext cx="8046720" cy="411480"/>
          </a:xfrm>
          <a:prstGeom prst="rect">
            <a:avLst/>
          </a:prstGeom>
          <a:noFill/>
          <a:ln/>
        </p:spPr>
        <p:txBody>
          <a:bodyPr wrap="square" lIns="0" tIns="0" rIns="0" bIns="0" rtlCol="0" anchor="ctr"/>
          <a:lstStyle/>
          <a:p>
            <a:pPr marL="0" indent="0">
              <a:buNone/>
            </a:pPr>
            <a:r>
              <a:rPr lang="en-US" sz="2600" b="1" dirty="0">
                <a:solidFill>
                  <a:srgbClr val="17324D"/>
                </a:solidFill>
                <a:latin typeface="Aptos Display" pitchFamily="34" charset="0"/>
                <a:ea typeface="Aptos Display" pitchFamily="34" charset="-122"/>
                <a:cs typeface="Aptos Display" pitchFamily="34" charset="-120"/>
              </a:rPr>
              <a:t>Workflow: Sweeping Parameters</a:t>
            </a:r>
            <a:endParaRPr lang="en-US" sz="2600" dirty="0"/>
          </a:p>
        </p:txBody>
      </p:sp>
      <p:sp>
        <p:nvSpPr>
          <p:cNvPr id="3" name="Text 1"/>
          <p:cNvSpPr/>
          <p:nvPr/>
        </p:nvSpPr>
        <p:spPr>
          <a:xfrm>
            <a:off x="530352" y="713232"/>
            <a:ext cx="8229600" cy="228600"/>
          </a:xfrm>
          <a:prstGeom prst="rect">
            <a:avLst/>
          </a:prstGeom>
          <a:noFill/>
          <a:ln/>
        </p:spPr>
        <p:txBody>
          <a:bodyPr wrap="square" lIns="0" tIns="0" rIns="0" bIns="0" rtlCol="0" anchor="ctr"/>
          <a:lstStyle/>
          <a:p>
            <a:pPr marL="0" indent="0">
              <a:buNone/>
            </a:pPr>
            <a:r>
              <a:rPr lang="en-US" sz="1050" dirty="0">
                <a:solidFill>
                  <a:srgbClr val="5A6472"/>
                </a:solidFill>
              </a:rPr>
              <a:t>The study identified qualitative trends to optimize geometry</a:t>
            </a:r>
            <a:endParaRPr lang="en-US" sz="1050" dirty="0"/>
          </a:p>
        </p:txBody>
      </p:sp>
      <p:sp>
        <p:nvSpPr>
          <p:cNvPr id="4" name="Shape 2"/>
          <p:cNvSpPr/>
          <p:nvPr/>
        </p:nvSpPr>
        <p:spPr>
          <a:xfrm>
            <a:off x="502920" y="1033272"/>
            <a:ext cx="11155680" cy="0"/>
          </a:xfrm>
          <a:prstGeom prst="line">
            <a:avLst/>
          </a:prstGeom>
          <a:noFill/>
          <a:ln w="15240">
            <a:solidFill>
              <a:srgbClr val="DCEBFA"/>
            </a:solidFill>
            <a:prstDash val="solid"/>
          </a:ln>
        </p:spPr>
        <p:txBody>
          <a:bodyPr/>
          <a:lstStyle/>
          <a:p>
            <a:endParaRPr lang="en-US"/>
          </a:p>
        </p:txBody>
      </p:sp>
      <p:sp>
        <p:nvSpPr>
          <p:cNvPr id="5" name="Shape 3"/>
          <p:cNvSpPr/>
          <p:nvPr/>
        </p:nvSpPr>
        <p:spPr>
          <a:xfrm>
            <a:off x="914400" y="2103120"/>
            <a:ext cx="2103120" cy="1097280"/>
          </a:xfrm>
          <a:prstGeom prst="roundRect">
            <a:avLst>
              <a:gd name="adj" fmla="val 6667"/>
            </a:avLst>
          </a:prstGeom>
          <a:solidFill>
            <a:srgbClr val="DCEBFA"/>
          </a:solidFill>
          <a:ln w="15240">
            <a:solidFill>
              <a:srgbClr val="2B6CB0"/>
            </a:solidFill>
            <a:prstDash val="solid"/>
          </a:ln>
        </p:spPr>
        <p:txBody>
          <a:bodyPr/>
          <a:lstStyle/>
          <a:p>
            <a:endParaRPr lang="en-US"/>
          </a:p>
        </p:txBody>
      </p:sp>
      <p:sp>
        <p:nvSpPr>
          <p:cNvPr id="6" name="Text 4"/>
          <p:cNvSpPr/>
          <p:nvPr/>
        </p:nvSpPr>
        <p:spPr>
          <a:xfrm>
            <a:off x="1024128" y="2194560"/>
            <a:ext cx="1883664" cy="914400"/>
          </a:xfrm>
          <a:prstGeom prst="rect">
            <a:avLst/>
          </a:prstGeom>
          <a:noFill/>
          <a:ln/>
        </p:spPr>
        <p:txBody>
          <a:bodyPr wrap="square" lIns="0" tIns="0" rIns="0" bIns="0" rtlCol="0" anchor="ctr">
            <a:normAutofit/>
          </a:bodyPr>
          <a:lstStyle/>
          <a:p>
            <a:pPr marL="0" indent="0" algn="ctr">
              <a:buNone/>
            </a:pPr>
            <a:r>
              <a:rPr lang="en-US" sz="1400" b="1" dirty="0">
                <a:solidFill>
                  <a:srgbClr val="1C2430"/>
                </a:solidFill>
              </a:rPr>
              <a:t>1. Define a General Geometry</a:t>
            </a:r>
            <a:endParaRPr lang="en-US" sz="1400" dirty="0"/>
          </a:p>
        </p:txBody>
      </p:sp>
      <p:sp>
        <p:nvSpPr>
          <p:cNvPr id="7" name="Shape 5"/>
          <p:cNvSpPr/>
          <p:nvPr/>
        </p:nvSpPr>
        <p:spPr>
          <a:xfrm>
            <a:off x="3063240" y="2651760"/>
            <a:ext cx="457200" cy="0"/>
          </a:xfrm>
          <a:prstGeom prst="line">
            <a:avLst/>
          </a:prstGeom>
          <a:noFill/>
          <a:ln w="22860">
            <a:solidFill>
              <a:srgbClr val="5A6472"/>
            </a:solidFill>
            <a:prstDash val="solid"/>
            <a:headEnd type="none"/>
            <a:tailEnd type="triangle"/>
          </a:ln>
        </p:spPr>
        <p:txBody>
          <a:bodyPr/>
          <a:lstStyle/>
          <a:p>
            <a:endParaRPr lang="en-US"/>
          </a:p>
        </p:txBody>
      </p:sp>
      <p:sp>
        <p:nvSpPr>
          <p:cNvPr id="8" name="Shape 6"/>
          <p:cNvSpPr/>
          <p:nvPr/>
        </p:nvSpPr>
        <p:spPr>
          <a:xfrm>
            <a:off x="3657600" y="2103120"/>
            <a:ext cx="2103120" cy="1097280"/>
          </a:xfrm>
          <a:prstGeom prst="roundRect">
            <a:avLst>
              <a:gd name="adj" fmla="val 6667"/>
            </a:avLst>
          </a:prstGeom>
          <a:solidFill>
            <a:srgbClr val="E6F4EA"/>
          </a:solidFill>
          <a:ln w="15240">
            <a:solidFill>
              <a:srgbClr val="2F855A"/>
            </a:solidFill>
            <a:prstDash val="solid"/>
          </a:ln>
        </p:spPr>
        <p:txBody>
          <a:bodyPr/>
          <a:lstStyle/>
          <a:p>
            <a:endParaRPr lang="en-US"/>
          </a:p>
        </p:txBody>
      </p:sp>
      <p:sp>
        <p:nvSpPr>
          <p:cNvPr id="9" name="Text 7"/>
          <p:cNvSpPr/>
          <p:nvPr/>
        </p:nvSpPr>
        <p:spPr>
          <a:xfrm>
            <a:off x="3767328" y="2194560"/>
            <a:ext cx="1883664" cy="914400"/>
          </a:xfrm>
          <a:prstGeom prst="rect">
            <a:avLst/>
          </a:prstGeom>
          <a:noFill/>
          <a:ln/>
        </p:spPr>
        <p:txBody>
          <a:bodyPr wrap="square" lIns="0" tIns="0" rIns="0" bIns="0" rtlCol="0" anchor="ctr">
            <a:normAutofit/>
          </a:bodyPr>
          <a:lstStyle/>
          <a:p>
            <a:pPr marL="0" indent="0" algn="ctr">
              <a:buNone/>
            </a:pPr>
            <a:r>
              <a:rPr lang="en-US" sz="1400" b="1" dirty="0">
                <a:solidFill>
                  <a:srgbClr val="1C2430"/>
                </a:solidFill>
              </a:rPr>
              <a:t>2. Run MCNP to</a:t>
            </a:r>
            <a:endParaRPr lang="en-US" sz="1400" dirty="0"/>
          </a:p>
          <a:p>
            <a:pPr marL="0" indent="0" algn="ctr">
              <a:buNone/>
            </a:pPr>
            <a:r>
              <a:rPr lang="en-US" sz="1400" b="1" dirty="0">
                <a:solidFill>
                  <a:srgbClr val="1C2430"/>
                </a:solidFill>
              </a:rPr>
              <a:t>Estimate </a:t>
            </a:r>
            <a:r>
              <a:rPr lang="en-US" sz="1400" b="1" dirty="0" err="1">
                <a:solidFill>
                  <a:srgbClr val="1C2430"/>
                </a:solidFill>
              </a:rPr>
              <a:t>kₑ</a:t>
            </a:r>
            <a:r>
              <a:rPr lang="en-US" sz="1400" b="1" baseline="-25000" dirty="0" err="1">
                <a:solidFill>
                  <a:srgbClr val="1C2430"/>
                </a:solidFill>
              </a:rPr>
              <a:t>ff</a:t>
            </a:r>
            <a:endParaRPr lang="en-US" sz="1400" dirty="0"/>
          </a:p>
        </p:txBody>
      </p:sp>
      <p:sp>
        <p:nvSpPr>
          <p:cNvPr id="10" name="Shape 8"/>
          <p:cNvSpPr/>
          <p:nvPr/>
        </p:nvSpPr>
        <p:spPr>
          <a:xfrm>
            <a:off x="5806440" y="2651760"/>
            <a:ext cx="457200" cy="0"/>
          </a:xfrm>
          <a:prstGeom prst="line">
            <a:avLst/>
          </a:prstGeom>
          <a:noFill/>
          <a:ln w="22860">
            <a:solidFill>
              <a:srgbClr val="5A6472"/>
            </a:solidFill>
            <a:prstDash val="solid"/>
            <a:headEnd type="none"/>
            <a:tailEnd type="triangle"/>
          </a:ln>
        </p:spPr>
        <p:txBody>
          <a:bodyPr/>
          <a:lstStyle/>
          <a:p>
            <a:endParaRPr lang="en-US"/>
          </a:p>
        </p:txBody>
      </p:sp>
      <p:sp>
        <p:nvSpPr>
          <p:cNvPr id="11" name="Shape 9"/>
          <p:cNvSpPr/>
          <p:nvPr/>
        </p:nvSpPr>
        <p:spPr>
          <a:xfrm>
            <a:off x="6400800" y="2103120"/>
            <a:ext cx="2103120" cy="1097280"/>
          </a:xfrm>
          <a:prstGeom prst="roundRect">
            <a:avLst>
              <a:gd name="adj" fmla="val 6667"/>
            </a:avLst>
          </a:prstGeom>
          <a:solidFill>
            <a:srgbClr val="DCEBFA"/>
          </a:solidFill>
          <a:ln w="15240">
            <a:solidFill>
              <a:srgbClr val="2B6CB0"/>
            </a:solidFill>
            <a:prstDash val="solid"/>
          </a:ln>
        </p:spPr>
        <p:txBody>
          <a:bodyPr/>
          <a:lstStyle/>
          <a:p>
            <a:endParaRPr lang="en-US"/>
          </a:p>
        </p:txBody>
      </p:sp>
      <p:sp>
        <p:nvSpPr>
          <p:cNvPr id="12" name="Text 10"/>
          <p:cNvSpPr/>
          <p:nvPr/>
        </p:nvSpPr>
        <p:spPr>
          <a:xfrm>
            <a:off x="6510528" y="2194560"/>
            <a:ext cx="1883664" cy="914400"/>
          </a:xfrm>
          <a:prstGeom prst="rect">
            <a:avLst/>
          </a:prstGeom>
          <a:noFill/>
          <a:ln/>
        </p:spPr>
        <p:txBody>
          <a:bodyPr wrap="square" lIns="0" tIns="0" rIns="0" bIns="0" rtlCol="0" anchor="ctr">
            <a:normAutofit/>
          </a:bodyPr>
          <a:lstStyle/>
          <a:p>
            <a:pPr marL="0" indent="0" algn="ctr">
              <a:buNone/>
            </a:pPr>
            <a:r>
              <a:rPr lang="en-US" sz="1400" b="1" dirty="0">
                <a:solidFill>
                  <a:srgbClr val="1C2430"/>
                </a:solidFill>
              </a:rPr>
              <a:t>3. Adjust Variables</a:t>
            </a:r>
            <a:endParaRPr lang="en-US" sz="1400" dirty="0"/>
          </a:p>
        </p:txBody>
      </p:sp>
      <p:sp>
        <p:nvSpPr>
          <p:cNvPr id="13" name="Shape 11"/>
          <p:cNvSpPr/>
          <p:nvPr/>
        </p:nvSpPr>
        <p:spPr>
          <a:xfrm>
            <a:off x="8549640" y="2651760"/>
            <a:ext cx="457200" cy="0"/>
          </a:xfrm>
          <a:prstGeom prst="line">
            <a:avLst/>
          </a:prstGeom>
          <a:noFill/>
          <a:ln w="22860">
            <a:solidFill>
              <a:srgbClr val="5A6472"/>
            </a:solidFill>
            <a:prstDash val="solid"/>
            <a:headEnd type="none"/>
            <a:tailEnd type="triangle"/>
          </a:ln>
        </p:spPr>
        <p:txBody>
          <a:bodyPr/>
          <a:lstStyle/>
          <a:p>
            <a:endParaRPr lang="en-US"/>
          </a:p>
        </p:txBody>
      </p:sp>
      <p:sp>
        <p:nvSpPr>
          <p:cNvPr id="14" name="Shape 12"/>
          <p:cNvSpPr/>
          <p:nvPr/>
        </p:nvSpPr>
        <p:spPr>
          <a:xfrm>
            <a:off x="9144000" y="2103120"/>
            <a:ext cx="2103120" cy="1097280"/>
          </a:xfrm>
          <a:prstGeom prst="roundRect">
            <a:avLst>
              <a:gd name="adj" fmla="val 6667"/>
            </a:avLst>
          </a:prstGeom>
          <a:solidFill>
            <a:srgbClr val="E6F4EA"/>
          </a:solidFill>
          <a:ln w="15240">
            <a:solidFill>
              <a:srgbClr val="2F855A"/>
            </a:solidFill>
            <a:prstDash val="solid"/>
          </a:ln>
        </p:spPr>
        <p:txBody>
          <a:bodyPr/>
          <a:lstStyle/>
          <a:p>
            <a:endParaRPr lang="en-US"/>
          </a:p>
        </p:txBody>
      </p:sp>
      <p:sp>
        <p:nvSpPr>
          <p:cNvPr id="15" name="Text 13"/>
          <p:cNvSpPr/>
          <p:nvPr/>
        </p:nvSpPr>
        <p:spPr>
          <a:xfrm>
            <a:off x="9253728" y="2194560"/>
            <a:ext cx="1883664" cy="914400"/>
          </a:xfrm>
          <a:prstGeom prst="rect">
            <a:avLst/>
          </a:prstGeom>
          <a:noFill/>
          <a:ln/>
        </p:spPr>
        <p:txBody>
          <a:bodyPr wrap="square" lIns="0" tIns="0" rIns="0" bIns="0" rtlCol="0" anchor="ctr">
            <a:normAutofit/>
          </a:bodyPr>
          <a:lstStyle/>
          <a:p>
            <a:pPr marL="0" indent="0" algn="ctr">
              <a:buNone/>
            </a:pPr>
            <a:r>
              <a:rPr lang="en-US" sz="1400" b="1" dirty="0">
                <a:solidFill>
                  <a:srgbClr val="1C2430"/>
                </a:solidFill>
              </a:rPr>
              <a:t>4. Observe Trend &amp; Refine Geometry</a:t>
            </a:r>
            <a:endParaRPr lang="en-US" sz="1400" dirty="0"/>
          </a:p>
        </p:txBody>
      </p:sp>
      <p:sp>
        <p:nvSpPr>
          <p:cNvPr id="16" name="Text 14"/>
          <p:cNvSpPr/>
          <p:nvPr/>
        </p:nvSpPr>
        <p:spPr>
          <a:xfrm>
            <a:off x="1097280" y="4114800"/>
            <a:ext cx="9784080" cy="1234440"/>
          </a:xfrm>
          <a:prstGeom prst="rect">
            <a:avLst/>
          </a:prstGeom>
          <a:noFill/>
          <a:ln/>
        </p:spPr>
        <p:txBody>
          <a:bodyPr wrap="square" lIns="635" tIns="635" rIns="635" bIns="635" rtlCol="0" anchor="ctr">
            <a:normAutofit/>
          </a:bodyPr>
          <a:lstStyle/>
          <a:p>
            <a:pPr>
              <a:lnSpc>
                <a:spcPct val="150000"/>
              </a:lnSpc>
            </a:pPr>
            <a:r>
              <a:rPr lang="en-US" sz="1800" dirty="0">
                <a:solidFill>
                  <a:srgbClr val="1C2430"/>
                </a:solidFill>
              </a:rPr>
              <a:t>Because total mass was constrained, changing one parameter often forced another to change.</a:t>
            </a:r>
            <a:endParaRPr lang="en-US" sz="1800" dirty="0"/>
          </a:p>
          <a:p>
            <a:pPr>
              <a:lnSpc>
                <a:spcPct val="150000"/>
              </a:lnSpc>
            </a:pPr>
            <a:r>
              <a:rPr lang="en-US" sz="1800" dirty="0">
                <a:solidFill>
                  <a:srgbClr val="1C2430"/>
                </a:solidFill>
              </a:rPr>
              <a:t>The results </a:t>
            </a:r>
            <a:r>
              <a:rPr lang="en-US" dirty="0">
                <a:solidFill>
                  <a:srgbClr val="1C2430"/>
                </a:solidFill>
              </a:rPr>
              <a:t>are</a:t>
            </a:r>
            <a:r>
              <a:rPr lang="en-US" sz="1800" dirty="0">
                <a:solidFill>
                  <a:srgbClr val="1C2430"/>
                </a:solidFill>
              </a:rPr>
              <a:t> best interpreted as qualitative trends for our specific mass constraint rather than a quantitative</a:t>
            </a:r>
            <a:r>
              <a:rPr lang="en-US" dirty="0">
                <a:solidFill>
                  <a:srgbClr val="1C2430"/>
                </a:solidFill>
              </a:rPr>
              <a:t> general result</a:t>
            </a:r>
            <a:r>
              <a:rPr lang="en-US" sz="1800" dirty="0">
                <a:solidFill>
                  <a:srgbClr val="1C2430"/>
                </a:solidFill>
              </a:rPr>
              <a:t>.</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74320"/>
            <a:ext cx="8046720" cy="411480"/>
          </a:xfrm>
          <a:prstGeom prst="rect">
            <a:avLst/>
          </a:prstGeom>
          <a:noFill/>
          <a:ln/>
        </p:spPr>
        <p:txBody>
          <a:bodyPr wrap="square" lIns="0" tIns="0" rIns="0" bIns="0" rtlCol="0" anchor="ctr"/>
          <a:lstStyle/>
          <a:p>
            <a:pPr marL="0" indent="0">
              <a:buNone/>
            </a:pPr>
            <a:r>
              <a:rPr lang="en-US" sz="2600" b="1" dirty="0">
                <a:solidFill>
                  <a:srgbClr val="17324D"/>
                </a:solidFill>
                <a:latin typeface="Aptos Display" pitchFamily="34" charset="0"/>
                <a:ea typeface="Aptos Display" pitchFamily="34" charset="-122"/>
                <a:cs typeface="Aptos Display" pitchFamily="34" charset="-120"/>
              </a:rPr>
              <a:t>Qualitative Analysis Factors &amp; Findings</a:t>
            </a:r>
            <a:endParaRPr lang="en-US" sz="2600" dirty="0"/>
          </a:p>
        </p:txBody>
      </p:sp>
      <p:sp>
        <p:nvSpPr>
          <p:cNvPr id="3" name="Text 1"/>
          <p:cNvSpPr/>
          <p:nvPr/>
        </p:nvSpPr>
        <p:spPr>
          <a:xfrm>
            <a:off x="530352" y="713232"/>
            <a:ext cx="8229600" cy="228600"/>
          </a:xfrm>
          <a:prstGeom prst="rect">
            <a:avLst/>
          </a:prstGeom>
          <a:noFill/>
          <a:ln/>
        </p:spPr>
        <p:txBody>
          <a:bodyPr wrap="square" lIns="0" tIns="0" rIns="0" bIns="0" rtlCol="0" anchor="ctr"/>
          <a:lstStyle/>
          <a:p>
            <a:pPr marL="0" indent="0">
              <a:buNone/>
            </a:pPr>
            <a:r>
              <a:rPr lang="en-US" sz="1050" dirty="0">
                <a:solidFill>
                  <a:srgbClr val="5A6472"/>
                </a:solidFill>
              </a:rPr>
              <a:t>What changed in the simulations</a:t>
            </a:r>
            <a:endParaRPr lang="en-US" sz="1050" dirty="0"/>
          </a:p>
        </p:txBody>
      </p:sp>
      <p:sp>
        <p:nvSpPr>
          <p:cNvPr id="4" name="Shape 2"/>
          <p:cNvSpPr/>
          <p:nvPr/>
        </p:nvSpPr>
        <p:spPr>
          <a:xfrm>
            <a:off x="502920" y="1033272"/>
            <a:ext cx="11155680" cy="0"/>
          </a:xfrm>
          <a:prstGeom prst="line">
            <a:avLst/>
          </a:prstGeom>
          <a:noFill/>
          <a:ln w="15240">
            <a:solidFill>
              <a:srgbClr val="DCEBFA"/>
            </a:solidFill>
            <a:prstDash val="solid"/>
          </a:ln>
        </p:spPr>
        <p:txBody>
          <a:bodyPr/>
          <a:lstStyle/>
          <a:p>
            <a:endParaRPr lang="en-US"/>
          </a:p>
        </p:txBody>
      </p:sp>
      <p:sp>
        <p:nvSpPr>
          <p:cNvPr id="5" name="Shape 3"/>
          <p:cNvSpPr/>
          <p:nvPr/>
        </p:nvSpPr>
        <p:spPr>
          <a:xfrm>
            <a:off x="777240" y="1417320"/>
            <a:ext cx="2971800" cy="1143000"/>
          </a:xfrm>
          <a:prstGeom prst="roundRect">
            <a:avLst>
              <a:gd name="adj" fmla="val 6400"/>
            </a:avLst>
          </a:prstGeom>
          <a:solidFill>
            <a:srgbClr val="DCEBFA"/>
          </a:solidFill>
          <a:ln w="15240">
            <a:solidFill>
              <a:srgbClr val="2B6CB0"/>
            </a:solidFill>
            <a:prstDash val="solid"/>
          </a:ln>
        </p:spPr>
        <p:txBody>
          <a:bodyPr/>
          <a:lstStyle/>
          <a:p>
            <a:endParaRPr lang="en-US"/>
          </a:p>
        </p:txBody>
      </p:sp>
      <p:sp>
        <p:nvSpPr>
          <p:cNvPr id="6" name="Text 4"/>
          <p:cNvSpPr/>
          <p:nvPr/>
        </p:nvSpPr>
        <p:spPr>
          <a:xfrm>
            <a:off x="886968" y="1508760"/>
            <a:ext cx="2752344" cy="960120"/>
          </a:xfrm>
          <a:prstGeom prst="rect">
            <a:avLst/>
          </a:prstGeom>
          <a:noFill/>
          <a:ln/>
        </p:spPr>
        <p:txBody>
          <a:bodyPr wrap="square" lIns="0" tIns="0" rIns="0" bIns="0" rtlCol="0" anchor="ctr">
            <a:normAutofit/>
          </a:bodyPr>
          <a:lstStyle/>
          <a:p>
            <a:pPr marL="0" indent="0" algn="ctr">
              <a:buNone/>
            </a:pPr>
            <a:r>
              <a:rPr lang="en-US" sz="1800" b="1" dirty="0">
                <a:solidFill>
                  <a:srgbClr val="1C2430"/>
                </a:solidFill>
              </a:rPr>
              <a:t>Moderation Layers</a:t>
            </a:r>
            <a:endParaRPr lang="en-US" sz="1800" dirty="0"/>
          </a:p>
        </p:txBody>
      </p:sp>
      <p:sp>
        <p:nvSpPr>
          <p:cNvPr id="7" name="Shape 5"/>
          <p:cNvSpPr/>
          <p:nvPr/>
        </p:nvSpPr>
        <p:spPr>
          <a:xfrm>
            <a:off x="4617720" y="1417320"/>
            <a:ext cx="2971800" cy="1143000"/>
          </a:xfrm>
          <a:prstGeom prst="roundRect">
            <a:avLst>
              <a:gd name="adj" fmla="val 6400"/>
            </a:avLst>
          </a:prstGeom>
          <a:solidFill>
            <a:srgbClr val="FBE4E6"/>
          </a:solidFill>
          <a:ln w="15240">
            <a:solidFill>
              <a:srgbClr val="C44E52"/>
            </a:solidFill>
            <a:prstDash val="solid"/>
          </a:ln>
        </p:spPr>
        <p:txBody>
          <a:bodyPr/>
          <a:lstStyle/>
          <a:p>
            <a:endParaRPr lang="en-US"/>
          </a:p>
        </p:txBody>
      </p:sp>
      <p:sp>
        <p:nvSpPr>
          <p:cNvPr id="8" name="Text 6"/>
          <p:cNvSpPr/>
          <p:nvPr/>
        </p:nvSpPr>
        <p:spPr>
          <a:xfrm>
            <a:off x="4727448" y="1508760"/>
            <a:ext cx="2752344" cy="960120"/>
          </a:xfrm>
          <a:prstGeom prst="rect">
            <a:avLst/>
          </a:prstGeom>
          <a:noFill/>
          <a:ln/>
        </p:spPr>
        <p:txBody>
          <a:bodyPr wrap="square" lIns="0" tIns="0" rIns="0" bIns="0" rtlCol="0" anchor="ctr">
            <a:normAutofit/>
          </a:bodyPr>
          <a:lstStyle/>
          <a:p>
            <a:pPr marL="0" indent="0" algn="ctr">
              <a:buNone/>
            </a:pPr>
            <a:r>
              <a:rPr lang="en-US" sz="1800" b="1" dirty="0">
                <a:solidFill>
                  <a:srgbClr val="1C2430"/>
                </a:solidFill>
              </a:rPr>
              <a:t>Mass-Opportunity Cost of Top &amp; Bottom Surfaces</a:t>
            </a:r>
            <a:endParaRPr lang="en-US" sz="1800" dirty="0"/>
          </a:p>
        </p:txBody>
      </p:sp>
      <p:sp>
        <p:nvSpPr>
          <p:cNvPr id="9" name="Shape 7"/>
          <p:cNvSpPr/>
          <p:nvPr/>
        </p:nvSpPr>
        <p:spPr>
          <a:xfrm>
            <a:off x="8458200" y="1417320"/>
            <a:ext cx="2971800" cy="1143000"/>
          </a:xfrm>
          <a:prstGeom prst="roundRect">
            <a:avLst>
              <a:gd name="adj" fmla="val 6400"/>
            </a:avLst>
          </a:prstGeom>
          <a:solidFill>
            <a:srgbClr val="FFF3CD"/>
          </a:solidFill>
          <a:ln w="15240">
            <a:solidFill>
              <a:srgbClr val="F6AD55"/>
            </a:solidFill>
            <a:prstDash val="solid"/>
          </a:ln>
        </p:spPr>
        <p:txBody>
          <a:bodyPr/>
          <a:lstStyle/>
          <a:p>
            <a:endParaRPr lang="en-US"/>
          </a:p>
        </p:txBody>
      </p:sp>
      <p:sp>
        <p:nvSpPr>
          <p:cNvPr id="10" name="Text 8"/>
          <p:cNvSpPr/>
          <p:nvPr/>
        </p:nvSpPr>
        <p:spPr>
          <a:xfrm>
            <a:off x="8567928" y="1508760"/>
            <a:ext cx="2752344" cy="960120"/>
          </a:xfrm>
          <a:prstGeom prst="rect">
            <a:avLst/>
          </a:prstGeom>
          <a:noFill/>
          <a:ln/>
        </p:spPr>
        <p:txBody>
          <a:bodyPr wrap="square" lIns="0" tIns="0" rIns="0" bIns="0" rtlCol="0" anchor="ctr">
            <a:normAutofit/>
          </a:bodyPr>
          <a:lstStyle/>
          <a:p>
            <a:pPr marL="0" indent="0" algn="ctr">
              <a:buNone/>
            </a:pPr>
            <a:r>
              <a:rPr lang="en-US" sz="1800" b="1" dirty="0">
                <a:solidFill>
                  <a:srgbClr val="1C2430"/>
                </a:solidFill>
              </a:rPr>
              <a:t>Mass Allocation Throughout Shells</a:t>
            </a:r>
            <a:endParaRPr lang="en-US" sz="1800" dirty="0"/>
          </a:p>
        </p:txBody>
      </p:sp>
      <p:sp>
        <p:nvSpPr>
          <p:cNvPr id="11" name="Text 9"/>
          <p:cNvSpPr/>
          <p:nvPr/>
        </p:nvSpPr>
        <p:spPr>
          <a:xfrm>
            <a:off x="868680" y="2775449"/>
            <a:ext cx="2788920" cy="2038622"/>
          </a:xfrm>
          <a:prstGeom prst="rect">
            <a:avLst/>
          </a:prstGeom>
          <a:noFill/>
          <a:ln/>
        </p:spPr>
        <p:txBody>
          <a:bodyPr wrap="square" lIns="635" tIns="635" rIns="635" bIns="635" rtlCol="0" anchor="ctr">
            <a:normAutofit/>
          </a:bodyPr>
          <a:lstStyle/>
          <a:p>
            <a:r>
              <a:rPr lang="en-US" sz="1600" dirty="0">
                <a:solidFill>
                  <a:srgbClr val="1C2430"/>
                </a:solidFill>
              </a:rPr>
              <a:t>Water can slow neutrons into a more favorable energy or momentum range for fission with LEU</a:t>
            </a:r>
          </a:p>
          <a:p>
            <a:endParaRPr lang="en-US" sz="1600" dirty="0"/>
          </a:p>
          <a:p>
            <a:r>
              <a:rPr lang="en-US" sz="1600" dirty="0">
                <a:solidFill>
                  <a:srgbClr val="1C2430"/>
                </a:solidFill>
              </a:rPr>
              <a:t>Too much spacing can spread the system out and increase leakage</a:t>
            </a:r>
            <a:endParaRPr lang="en-US" sz="1600" dirty="0"/>
          </a:p>
        </p:txBody>
      </p:sp>
      <p:sp>
        <p:nvSpPr>
          <p:cNvPr id="12" name="Text 10"/>
          <p:cNvSpPr/>
          <p:nvPr/>
        </p:nvSpPr>
        <p:spPr>
          <a:xfrm>
            <a:off x="4709160" y="2880360"/>
            <a:ext cx="2788920" cy="1417320"/>
          </a:xfrm>
          <a:prstGeom prst="rect">
            <a:avLst/>
          </a:prstGeom>
          <a:noFill/>
          <a:ln/>
        </p:spPr>
        <p:txBody>
          <a:bodyPr wrap="square" lIns="635" tIns="635" rIns="635" bIns="635" rtlCol="0" anchor="ctr">
            <a:normAutofit lnSpcReduction="10000"/>
          </a:bodyPr>
          <a:lstStyle/>
          <a:p>
            <a:r>
              <a:rPr lang="en-US" sz="1600" dirty="0">
                <a:solidFill>
                  <a:srgbClr val="1C2430"/>
                </a:solidFill>
              </a:rPr>
              <a:t>Adding LEU caps/end material was mass-expensive in the study.</a:t>
            </a:r>
          </a:p>
          <a:p>
            <a:endParaRPr lang="en-US" sz="1600" dirty="0">
              <a:solidFill>
                <a:srgbClr val="1C2430"/>
              </a:solidFill>
            </a:endParaRPr>
          </a:p>
          <a:p>
            <a:r>
              <a:rPr lang="en-US" sz="1600" dirty="0">
                <a:solidFill>
                  <a:srgbClr val="1C2430"/>
                </a:solidFill>
              </a:rPr>
              <a:t>Longer cylinders reduced total leakage in the model.</a:t>
            </a:r>
          </a:p>
          <a:p>
            <a:endParaRPr lang="en-US" sz="1600" dirty="0"/>
          </a:p>
        </p:txBody>
      </p:sp>
      <p:sp>
        <p:nvSpPr>
          <p:cNvPr id="13" name="Text 11"/>
          <p:cNvSpPr/>
          <p:nvPr/>
        </p:nvSpPr>
        <p:spPr>
          <a:xfrm>
            <a:off x="8549640" y="2788920"/>
            <a:ext cx="2788920" cy="1417320"/>
          </a:xfrm>
          <a:prstGeom prst="rect">
            <a:avLst/>
          </a:prstGeom>
          <a:noFill/>
          <a:ln/>
        </p:spPr>
        <p:txBody>
          <a:bodyPr wrap="square" lIns="635" tIns="635" rIns="635" bIns="635" rtlCol="0" anchor="ctr">
            <a:normAutofit lnSpcReduction="10000"/>
          </a:bodyPr>
          <a:lstStyle/>
          <a:p>
            <a:r>
              <a:rPr lang="en-US" sz="1600" dirty="0">
                <a:solidFill>
                  <a:srgbClr val="1C2430"/>
                </a:solidFill>
              </a:rPr>
              <a:t>LEU shell count, thickness, and spacing are coupled by the mass constraint.</a:t>
            </a:r>
          </a:p>
          <a:p>
            <a:endParaRPr lang="en-US" sz="1600" dirty="0"/>
          </a:p>
          <a:p>
            <a:r>
              <a:rPr lang="en-US" sz="1600" dirty="0">
                <a:solidFill>
                  <a:srgbClr val="1C2430"/>
                </a:solidFill>
              </a:rPr>
              <a:t>These parameters had to be adjusted accordingly.</a:t>
            </a:r>
            <a:endParaRPr lang="en-US" sz="1600" dirty="0"/>
          </a:p>
        </p:txBody>
      </p:sp>
      <p:sp>
        <p:nvSpPr>
          <p:cNvPr id="14" name="Text 12"/>
          <p:cNvSpPr/>
          <p:nvPr/>
        </p:nvSpPr>
        <p:spPr>
          <a:xfrm>
            <a:off x="1097280" y="5532120"/>
            <a:ext cx="9966960" cy="411480"/>
          </a:xfrm>
          <a:prstGeom prst="rect">
            <a:avLst/>
          </a:prstGeom>
          <a:noFill/>
          <a:ln/>
        </p:spPr>
        <p:txBody>
          <a:bodyPr wrap="square" lIns="0" tIns="0" rIns="0" bIns="0" rtlCol="0" anchor="ctr"/>
          <a:lstStyle/>
          <a:p>
            <a:pPr marL="0" indent="0" algn="ctr">
              <a:buNone/>
            </a:pPr>
            <a:r>
              <a:rPr lang="en-US" sz="2200" b="1" dirty="0">
                <a:solidFill>
                  <a:srgbClr val="17324D"/>
                </a:solidFill>
              </a:rPr>
              <a:t>Overall message: The model is a balance between favorable geometric features and their mass opportunity cost.</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566927"/>
            <a:ext cx="8046720" cy="411480"/>
          </a:xfrm>
          <a:prstGeom prst="rect">
            <a:avLst/>
          </a:prstGeom>
          <a:noFill/>
          <a:ln/>
        </p:spPr>
        <p:txBody>
          <a:bodyPr wrap="square" lIns="0" tIns="0" rIns="0" bIns="0" rtlCol="0" anchor="ctr"/>
          <a:lstStyle/>
          <a:p>
            <a:pPr marL="0" indent="0">
              <a:buNone/>
            </a:pPr>
            <a:r>
              <a:rPr lang="en-US" sz="2600" b="1" dirty="0">
                <a:solidFill>
                  <a:srgbClr val="17324D"/>
                </a:solidFill>
                <a:latin typeface="Aptos Display" pitchFamily="34" charset="0"/>
                <a:ea typeface="Aptos Display" pitchFamily="34" charset="-122"/>
                <a:cs typeface="Aptos Display" pitchFamily="34" charset="-120"/>
              </a:rPr>
              <a:t>Notable Simulation Outcomes</a:t>
            </a:r>
            <a:endParaRPr lang="en-US" sz="2600" dirty="0"/>
          </a:p>
        </p:txBody>
      </p:sp>
      <p:sp>
        <p:nvSpPr>
          <p:cNvPr id="4" name="Shape 2"/>
          <p:cNvSpPr/>
          <p:nvPr/>
        </p:nvSpPr>
        <p:spPr>
          <a:xfrm>
            <a:off x="502920" y="1033272"/>
            <a:ext cx="11155680" cy="0"/>
          </a:xfrm>
          <a:prstGeom prst="line">
            <a:avLst/>
          </a:prstGeom>
          <a:noFill/>
          <a:ln w="15240">
            <a:solidFill>
              <a:srgbClr val="DCEBFA"/>
            </a:solidFill>
            <a:prstDash val="solid"/>
          </a:ln>
        </p:spPr>
        <p:txBody>
          <a:bodyPr/>
          <a:lstStyle/>
          <a:p>
            <a:endParaRPr lang="en-US"/>
          </a:p>
        </p:txBody>
      </p:sp>
      <p:sp>
        <p:nvSpPr>
          <p:cNvPr id="5" name="Shape 3"/>
          <p:cNvSpPr/>
          <p:nvPr/>
        </p:nvSpPr>
        <p:spPr>
          <a:xfrm>
            <a:off x="914400" y="1600200"/>
            <a:ext cx="3840480" cy="1600200"/>
          </a:xfrm>
          <a:prstGeom prst="roundRect">
            <a:avLst>
              <a:gd name="adj" fmla="val 4571"/>
            </a:avLst>
          </a:prstGeom>
          <a:solidFill>
            <a:srgbClr val="FBE4E6"/>
          </a:solidFill>
          <a:ln w="15240">
            <a:solidFill>
              <a:srgbClr val="C44E52"/>
            </a:solidFill>
            <a:prstDash val="solid"/>
          </a:ln>
        </p:spPr>
        <p:txBody>
          <a:bodyPr/>
          <a:lstStyle/>
          <a:p>
            <a:endParaRPr lang="en-US"/>
          </a:p>
        </p:txBody>
      </p:sp>
      <p:sp>
        <p:nvSpPr>
          <p:cNvPr id="6" name="Text 4"/>
          <p:cNvSpPr/>
          <p:nvPr/>
        </p:nvSpPr>
        <p:spPr>
          <a:xfrm>
            <a:off x="1024128" y="1691640"/>
            <a:ext cx="3621024" cy="1417320"/>
          </a:xfrm>
          <a:prstGeom prst="rect">
            <a:avLst/>
          </a:prstGeom>
          <a:noFill/>
          <a:ln/>
        </p:spPr>
        <p:txBody>
          <a:bodyPr wrap="square" lIns="0" tIns="0" rIns="0" bIns="0" rtlCol="0" anchor="ctr">
            <a:normAutofit/>
          </a:bodyPr>
          <a:lstStyle/>
          <a:p>
            <a:pPr marL="0" indent="0" algn="ctr">
              <a:buNone/>
            </a:pPr>
            <a:r>
              <a:rPr lang="en-US" sz="2200" b="1" dirty="0">
                <a:solidFill>
                  <a:srgbClr val="1C2430"/>
                </a:solidFill>
              </a:rPr>
              <a:t>Highest simulated case</a:t>
            </a:r>
            <a:endParaRPr lang="en-US" sz="2200" dirty="0"/>
          </a:p>
          <a:p>
            <a:pPr marL="0" indent="0" algn="ctr">
              <a:buNone/>
            </a:pPr>
            <a:r>
              <a:rPr lang="en-US" sz="2200" b="1" dirty="0" err="1">
                <a:solidFill>
                  <a:srgbClr val="1C2430"/>
                </a:solidFill>
              </a:rPr>
              <a:t>k</a:t>
            </a:r>
            <a:r>
              <a:rPr lang="en-US" sz="2200" b="1" baseline="-25000" dirty="0" err="1">
                <a:solidFill>
                  <a:srgbClr val="1C2430"/>
                </a:solidFill>
              </a:rPr>
              <a:t>eff</a:t>
            </a:r>
            <a:r>
              <a:rPr lang="en-US" sz="2200" b="1" dirty="0">
                <a:solidFill>
                  <a:srgbClr val="1C2430"/>
                </a:solidFill>
              </a:rPr>
              <a:t> = 1.0386</a:t>
            </a:r>
            <a:endParaRPr lang="en-US" sz="2200" dirty="0"/>
          </a:p>
          <a:p>
            <a:pPr marL="0" indent="0" algn="ctr">
              <a:buNone/>
            </a:pPr>
            <a:r>
              <a:rPr lang="en-US" sz="2200" b="1" dirty="0">
                <a:solidFill>
                  <a:srgbClr val="1C2430"/>
                </a:solidFill>
              </a:rPr>
              <a:t>σ = 0.0006</a:t>
            </a:r>
            <a:endParaRPr lang="en-US" sz="2200" dirty="0"/>
          </a:p>
        </p:txBody>
      </p:sp>
      <p:sp>
        <p:nvSpPr>
          <p:cNvPr id="7" name="Shape 5"/>
          <p:cNvSpPr/>
          <p:nvPr/>
        </p:nvSpPr>
        <p:spPr>
          <a:xfrm>
            <a:off x="7132320" y="1600200"/>
            <a:ext cx="3840480" cy="1600200"/>
          </a:xfrm>
          <a:prstGeom prst="roundRect">
            <a:avLst>
              <a:gd name="adj" fmla="val 4571"/>
            </a:avLst>
          </a:prstGeom>
          <a:solidFill>
            <a:srgbClr val="E6F4EA"/>
          </a:solidFill>
          <a:ln w="15240">
            <a:solidFill>
              <a:srgbClr val="2F855A"/>
            </a:solidFill>
            <a:prstDash val="solid"/>
          </a:ln>
        </p:spPr>
        <p:txBody>
          <a:bodyPr/>
          <a:lstStyle/>
          <a:p>
            <a:endParaRPr lang="en-US"/>
          </a:p>
        </p:txBody>
      </p:sp>
      <p:sp>
        <p:nvSpPr>
          <p:cNvPr id="8" name="Text 6"/>
          <p:cNvSpPr/>
          <p:nvPr/>
        </p:nvSpPr>
        <p:spPr>
          <a:xfrm>
            <a:off x="7242048" y="1691640"/>
            <a:ext cx="3621024" cy="1417320"/>
          </a:xfrm>
          <a:prstGeom prst="rect">
            <a:avLst/>
          </a:prstGeom>
          <a:noFill/>
          <a:ln/>
        </p:spPr>
        <p:txBody>
          <a:bodyPr wrap="square" lIns="0" tIns="0" rIns="0" bIns="0" rtlCol="0" anchor="ctr">
            <a:normAutofit/>
          </a:bodyPr>
          <a:lstStyle/>
          <a:p>
            <a:pPr marL="0" indent="0" algn="ctr">
              <a:buNone/>
            </a:pPr>
            <a:r>
              <a:rPr lang="en-US" sz="2200" b="1" dirty="0">
                <a:solidFill>
                  <a:srgbClr val="1C2430"/>
                </a:solidFill>
              </a:rPr>
              <a:t>12 kg LEU near-threshold case</a:t>
            </a:r>
            <a:endParaRPr lang="en-US" sz="2200" dirty="0"/>
          </a:p>
          <a:p>
            <a:pPr marL="0" indent="0" algn="ctr">
              <a:buNone/>
            </a:pPr>
            <a:r>
              <a:rPr lang="en-US" sz="2200" b="1" dirty="0" err="1">
                <a:solidFill>
                  <a:srgbClr val="1C2430"/>
                </a:solidFill>
              </a:rPr>
              <a:t>k</a:t>
            </a:r>
            <a:r>
              <a:rPr lang="en-US" sz="2200" b="1" baseline="-25000" dirty="0" err="1">
                <a:solidFill>
                  <a:srgbClr val="1C2430"/>
                </a:solidFill>
              </a:rPr>
              <a:t>eff</a:t>
            </a:r>
            <a:r>
              <a:rPr lang="en-US" sz="2200" b="1" dirty="0">
                <a:solidFill>
                  <a:srgbClr val="1C2430"/>
                </a:solidFill>
              </a:rPr>
              <a:t> = 0.991</a:t>
            </a:r>
            <a:endParaRPr lang="en-US" sz="2200" dirty="0"/>
          </a:p>
          <a:p>
            <a:pPr marL="0" indent="0" algn="ctr">
              <a:buNone/>
            </a:pPr>
            <a:r>
              <a:rPr lang="en-US" sz="2200" b="1" dirty="0">
                <a:solidFill>
                  <a:srgbClr val="1C2430"/>
                </a:solidFill>
              </a:rPr>
              <a:t>σ ≈ 0.0008</a:t>
            </a:r>
            <a:endParaRPr lang="en-US" sz="2200" dirty="0"/>
          </a:p>
        </p:txBody>
      </p:sp>
      <p:sp>
        <p:nvSpPr>
          <p:cNvPr id="9" name="Shape 7"/>
          <p:cNvSpPr/>
          <p:nvPr/>
        </p:nvSpPr>
        <p:spPr>
          <a:xfrm>
            <a:off x="1280160" y="4937760"/>
            <a:ext cx="9509760" cy="0"/>
          </a:xfrm>
          <a:prstGeom prst="line">
            <a:avLst/>
          </a:prstGeom>
          <a:noFill/>
          <a:ln w="15240">
            <a:solidFill>
              <a:srgbClr val="9AA5B1"/>
            </a:solidFill>
            <a:prstDash val="solid"/>
          </a:ln>
        </p:spPr>
        <p:txBody>
          <a:bodyPr/>
          <a:lstStyle/>
          <a:p>
            <a:endParaRPr lang="en-US"/>
          </a:p>
        </p:txBody>
      </p:sp>
      <p:sp>
        <p:nvSpPr>
          <p:cNvPr id="10" name="Shape 8"/>
          <p:cNvSpPr/>
          <p:nvPr/>
        </p:nvSpPr>
        <p:spPr>
          <a:xfrm>
            <a:off x="5943600" y="4343400"/>
            <a:ext cx="0" cy="1143000"/>
          </a:xfrm>
          <a:prstGeom prst="line">
            <a:avLst/>
          </a:prstGeom>
          <a:noFill/>
          <a:ln w="25400">
            <a:solidFill>
              <a:srgbClr val="F6AD55"/>
            </a:solidFill>
            <a:prstDash val="solid"/>
          </a:ln>
        </p:spPr>
        <p:txBody>
          <a:bodyPr/>
          <a:lstStyle/>
          <a:p>
            <a:endParaRPr lang="en-US"/>
          </a:p>
        </p:txBody>
      </p:sp>
      <p:sp>
        <p:nvSpPr>
          <p:cNvPr id="11" name="Text 9"/>
          <p:cNvSpPr/>
          <p:nvPr/>
        </p:nvSpPr>
        <p:spPr>
          <a:xfrm>
            <a:off x="5032874" y="3995927"/>
            <a:ext cx="1821452" cy="228600"/>
          </a:xfrm>
          <a:prstGeom prst="rect">
            <a:avLst/>
          </a:prstGeom>
          <a:noFill/>
          <a:ln/>
        </p:spPr>
        <p:txBody>
          <a:bodyPr wrap="square" lIns="0" tIns="0" rIns="0" bIns="0" rtlCol="0" anchor="ctr"/>
          <a:lstStyle/>
          <a:p>
            <a:pPr marL="0" indent="0" algn="ctr">
              <a:buNone/>
            </a:pPr>
            <a:r>
              <a:rPr lang="en-US" dirty="0" err="1">
                <a:solidFill>
                  <a:srgbClr val="F6AD55"/>
                </a:solidFill>
              </a:rPr>
              <a:t>kₑ</a:t>
            </a:r>
            <a:r>
              <a:rPr lang="en-US" baseline="-25000" dirty="0" err="1">
                <a:solidFill>
                  <a:srgbClr val="F6AD55"/>
                </a:solidFill>
              </a:rPr>
              <a:t>ff</a:t>
            </a:r>
            <a:r>
              <a:rPr lang="en-US" dirty="0">
                <a:solidFill>
                  <a:srgbClr val="F6AD55"/>
                </a:solidFill>
              </a:rPr>
              <a:t> = 1</a:t>
            </a:r>
            <a:endParaRPr lang="en-US" dirty="0"/>
          </a:p>
        </p:txBody>
      </p:sp>
      <p:sp>
        <p:nvSpPr>
          <p:cNvPr id="12" name="Shape 10"/>
          <p:cNvSpPr/>
          <p:nvPr/>
        </p:nvSpPr>
        <p:spPr>
          <a:xfrm>
            <a:off x="5425985" y="4800600"/>
            <a:ext cx="274320" cy="274320"/>
          </a:xfrm>
          <a:prstGeom prst="ellipse">
            <a:avLst/>
          </a:prstGeom>
          <a:solidFill>
            <a:srgbClr val="2F855A"/>
          </a:solidFill>
          <a:ln w="12700">
            <a:solidFill>
              <a:srgbClr val="2F855A"/>
            </a:solidFill>
            <a:prstDash val="solid"/>
          </a:ln>
        </p:spPr>
        <p:txBody>
          <a:bodyPr/>
          <a:lstStyle/>
          <a:p>
            <a:endParaRPr lang="en-US"/>
          </a:p>
        </p:txBody>
      </p:sp>
      <p:sp>
        <p:nvSpPr>
          <p:cNvPr id="13" name="Text 11"/>
          <p:cNvSpPr/>
          <p:nvPr/>
        </p:nvSpPr>
        <p:spPr>
          <a:xfrm>
            <a:off x="5134357" y="5074919"/>
            <a:ext cx="502920" cy="182880"/>
          </a:xfrm>
          <a:prstGeom prst="rect">
            <a:avLst/>
          </a:prstGeom>
          <a:noFill/>
          <a:ln/>
        </p:spPr>
        <p:txBody>
          <a:bodyPr wrap="square" lIns="0" tIns="0" rIns="0" bIns="0" rtlCol="0" anchor="ctr"/>
          <a:lstStyle/>
          <a:p>
            <a:pPr marL="0" indent="0" algn="ctr">
              <a:buNone/>
            </a:pPr>
            <a:r>
              <a:rPr lang="en-US" sz="1000" dirty="0">
                <a:solidFill>
                  <a:srgbClr val="2F855A"/>
                </a:solidFill>
              </a:rPr>
              <a:t>0.991</a:t>
            </a:r>
            <a:endParaRPr lang="en-US" sz="1000" dirty="0"/>
          </a:p>
        </p:txBody>
      </p:sp>
      <p:sp>
        <p:nvSpPr>
          <p:cNvPr id="14" name="Shape 12"/>
          <p:cNvSpPr/>
          <p:nvPr/>
        </p:nvSpPr>
        <p:spPr>
          <a:xfrm>
            <a:off x="6922008" y="4800599"/>
            <a:ext cx="274320" cy="274320"/>
          </a:xfrm>
          <a:prstGeom prst="ellipse">
            <a:avLst/>
          </a:prstGeom>
          <a:solidFill>
            <a:srgbClr val="C44E52"/>
          </a:solidFill>
          <a:ln w="12700">
            <a:solidFill>
              <a:srgbClr val="C44E52"/>
            </a:solidFill>
            <a:prstDash val="solid"/>
          </a:ln>
        </p:spPr>
        <p:txBody>
          <a:bodyPr/>
          <a:lstStyle/>
          <a:p>
            <a:endParaRPr lang="en-US"/>
          </a:p>
        </p:txBody>
      </p:sp>
      <p:sp>
        <p:nvSpPr>
          <p:cNvPr id="15" name="Text 13"/>
          <p:cNvSpPr/>
          <p:nvPr/>
        </p:nvSpPr>
        <p:spPr>
          <a:xfrm>
            <a:off x="7059168" y="5047488"/>
            <a:ext cx="731520" cy="182880"/>
          </a:xfrm>
          <a:prstGeom prst="rect">
            <a:avLst/>
          </a:prstGeom>
          <a:noFill/>
          <a:ln/>
        </p:spPr>
        <p:txBody>
          <a:bodyPr wrap="square" lIns="0" tIns="0" rIns="0" bIns="0" rtlCol="0" anchor="ctr"/>
          <a:lstStyle/>
          <a:p>
            <a:pPr marL="0" indent="0" algn="ctr">
              <a:buNone/>
            </a:pPr>
            <a:r>
              <a:rPr lang="en-US" sz="1000" dirty="0">
                <a:solidFill>
                  <a:srgbClr val="C44E52"/>
                </a:solidFill>
              </a:rPr>
              <a:t>1.0386</a:t>
            </a:r>
            <a:endParaRPr lang="en-US" sz="1000" dirty="0"/>
          </a:p>
        </p:txBody>
      </p:sp>
      <p:sp>
        <p:nvSpPr>
          <p:cNvPr id="16" name="Text 14"/>
          <p:cNvSpPr/>
          <p:nvPr/>
        </p:nvSpPr>
        <p:spPr>
          <a:xfrm>
            <a:off x="960120" y="5669280"/>
            <a:ext cx="10149840" cy="384048"/>
          </a:xfrm>
          <a:prstGeom prst="rect">
            <a:avLst/>
          </a:prstGeom>
          <a:noFill/>
          <a:ln/>
        </p:spPr>
        <p:txBody>
          <a:bodyPr wrap="square" lIns="0" tIns="0" rIns="0" bIns="0" rtlCol="0" anchor="ctr"/>
          <a:lstStyle/>
          <a:p>
            <a:pPr marL="0" indent="0" algn="ctr">
              <a:buNone/>
            </a:pPr>
            <a:r>
              <a:rPr lang="en-US" sz="1800" b="1" dirty="0">
                <a:solidFill>
                  <a:srgbClr val="17324D"/>
                </a:solidFill>
              </a:rPr>
              <a:t>Safety Context: </a:t>
            </a:r>
            <a:r>
              <a:rPr lang="en-US" b="1" dirty="0">
                <a:solidFill>
                  <a:srgbClr val="17324D"/>
                </a:solidFill>
              </a:rPr>
              <a:t>The lower mass near the safety threshold has a ~16% chance of going critical.</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65D15-A8C6-C36C-2614-D784A40FF79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984393A-3DBD-C990-F7FB-ED658A3532E6}"/>
              </a:ext>
            </a:extLst>
          </p:cNvPr>
          <p:cNvSpPr/>
          <p:nvPr/>
        </p:nvSpPr>
        <p:spPr>
          <a:xfrm>
            <a:off x="502920" y="566927"/>
            <a:ext cx="8046720" cy="411480"/>
          </a:xfrm>
          <a:prstGeom prst="rect">
            <a:avLst/>
          </a:prstGeom>
          <a:noFill/>
          <a:ln/>
        </p:spPr>
        <p:txBody>
          <a:bodyPr wrap="square" lIns="0" tIns="0" rIns="0" bIns="0" rtlCol="0" anchor="ctr"/>
          <a:lstStyle/>
          <a:p>
            <a:r>
              <a:rPr lang="en-US" sz="2600" b="1" dirty="0">
                <a:solidFill>
                  <a:srgbClr val="17324D"/>
                </a:solidFill>
                <a:latin typeface="Aptos Display" pitchFamily="34" charset="0"/>
                <a:ea typeface="Aptos Display" pitchFamily="34" charset="-122"/>
                <a:cs typeface="Aptos Display" pitchFamily="34" charset="-120"/>
              </a:rPr>
              <a:t>Highest </a:t>
            </a:r>
            <a:r>
              <a:rPr lang="en-US" sz="2600" b="1" dirty="0" err="1">
                <a:solidFill>
                  <a:srgbClr val="17324D"/>
                </a:solidFill>
                <a:latin typeface="Aptos Display" pitchFamily="34" charset="0"/>
                <a:ea typeface="Aptos Display" pitchFamily="34" charset="-122"/>
                <a:cs typeface="Aptos Display" pitchFamily="34" charset="-120"/>
              </a:rPr>
              <a:t>k</a:t>
            </a:r>
            <a:r>
              <a:rPr lang="en-US" sz="2600" b="1" baseline="-25000" dirty="0" err="1">
                <a:solidFill>
                  <a:srgbClr val="17324D"/>
                </a:solidFill>
                <a:latin typeface="Aptos Display" pitchFamily="34" charset="0"/>
                <a:ea typeface="Aptos Display" pitchFamily="34" charset="-122"/>
                <a:cs typeface="Aptos Display" pitchFamily="34" charset="-120"/>
              </a:rPr>
              <a:t>eff</a:t>
            </a:r>
            <a:r>
              <a:rPr lang="en-US" sz="2600" b="1" baseline="-25000" dirty="0">
                <a:solidFill>
                  <a:srgbClr val="17324D"/>
                </a:solidFill>
                <a:latin typeface="Aptos Display" pitchFamily="34" charset="0"/>
                <a:ea typeface="Aptos Display" pitchFamily="34" charset="-122"/>
                <a:cs typeface="Aptos Display" pitchFamily="34" charset="-120"/>
              </a:rPr>
              <a:t>  </a:t>
            </a:r>
            <a:r>
              <a:rPr lang="en-US" sz="2600" b="1" dirty="0">
                <a:solidFill>
                  <a:srgbClr val="17324D"/>
                </a:solidFill>
                <a:latin typeface="Aptos Display" pitchFamily="34" charset="0"/>
                <a:ea typeface="Aptos Display" pitchFamily="34" charset="-122"/>
                <a:cs typeface="Aptos Display" pitchFamily="34" charset="-120"/>
              </a:rPr>
              <a:t>Achieved</a:t>
            </a:r>
            <a:endParaRPr lang="en-US" sz="2600" dirty="0"/>
          </a:p>
        </p:txBody>
      </p:sp>
      <p:sp>
        <p:nvSpPr>
          <p:cNvPr id="4" name="Shape 2">
            <a:extLst>
              <a:ext uri="{FF2B5EF4-FFF2-40B4-BE49-F238E27FC236}">
                <a16:creationId xmlns:a16="http://schemas.microsoft.com/office/drawing/2014/main" id="{59D66998-924E-4B2D-C7FE-B54D5049641D}"/>
              </a:ext>
            </a:extLst>
          </p:cNvPr>
          <p:cNvSpPr/>
          <p:nvPr/>
        </p:nvSpPr>
        <p:spPr>
          <a:xfrm>
            <a:off x="502920" y="1033272"/>
            <a:ext cx="11155680" cy="0"/>
          </a:xfrm>
          <a:prstGeom prst="line">
            <a:avLst/>
          </a:prstGeom>
          <a:noFill/>
          <a:ln w="15240">
            <a:solidFill>
              <a:srgbClr val="DCEBFA"/>
            </a:solidFill>
            <a:prstDash val="solid"/>
          </a:ln>
        </p:spPr>
        <p:txBody>
          <a:bodyPr/>
          <a:lstStyle/>
          <a:p>
            <a:endParaRPr lang="en-US"/>
          </a:p>
        </p:txBody>
      </p:sp>
      <p:sp>
        <p:nvSpPr>
          <p:cNvPr id="16" name="Text 14">
            <a:extLst>
              <a:ext uri="{FF2B5EF4-FFF2-40B4-BE49-F238E27FC236}">
                <a16:creationId xmlns:a16="http://schemas.microsoft.com/office/drawing/2014/main" id="{4CF2BAAC-D9F8-E201-C241-F471BE74BE41}"/>
              </a:ext>
            </a:extLst>
          </p:cNvPr>
          <p:cNvSpPr/>
          <p:nvPr/>
        </p:nvSpPr>
        <p:spPr>
          <a:xfrm>
            <a:off x="502919" y="4584247"/>
            <a:ext cx="10906393" cy="2072585"/>
          </a:xfrm>
          <a:prstGeom prst="rect">
            <a:avLst/>
          </a:prstGeom>
          <a:noFill/>
          <a:ln/>
        </p:spPr>
        <p:txBody>
          <a:bodyPr wrap="square" lIns="0" tIns="0" rIns="0" bIns="0" rtlCol="0" anchor="ctr"/>
          <a:lstStyle/>
          <a:p>
            <a:pPr algn="ctr">
              <a:lnSpc>
                <a:spcPct val="150000"/>
              </a:lnSpc>
            </a:pPr>
            <a:r>
              <a:rPr lang="en-US" dirty="0"/>
              <a:t>The model incorporates four 65 mm thick and 56 cm tall LEU shells spaced apart by 4 cm of water. Additionally, the inner-radius of the center shell is 4 cm. The geometry does not include top and bottom parts of the LEU shells because of the mass opportunity cost as previously mentioned. This geometry yields </a:t>
            </a:r>
            <a:r>
              <a:rPr lang="en-US" b="1" dirty="0" err="1">
                <a:solidFill>
                  <a:srgbClr val="1C2430"/>
                </a:solidFill>
              </a:rPr>
              <a:t>k</a:t>
            </a:r>
            <a:r>
              <a:rPr lang="en-US" b="1" baseline="-25000" dirty="0" err="1">
                <a:solidFill>
                  <a:srgbClr val="1C2430"/>
                </a:solidFill>
              </a:rPr>
              <a:t>eff</a:t>
            </a:r>
            <a:r>
              <a:rPr lang="en-US" b="1" dirty="0">
                <a:solidFill>
                  <a:srgbClr val="1C2430"/>
                </a:solidFill>
              </a:rPr>
              <a:t> = 1.0386</a:t>
            </a:r>
            <a:r>
              <a:rPr lang="en-US" dirty="0"/>
              <a:t> and </a:t>
            </a:r>
            <a:r>
              <a:rPr lang="en-US" b="1" dirty="0">
                <a:solidFill>
                  <a:srgbClr val="1C2430"/>
                </a:solidFill>
              </a:rPr>
              <a:t>σ = 0.0006</a:t>
            </a:r>
            <a:endParaRPr lang="en-US" dirty="0"/>
          </a:p>
          <a:p>
            <a:r>
              <a:rPr lang="en-US" dirty="0"/>
              <a:t>.</a:t>
            </a:r>
          </a:p>
        </p:txBody>
      </p:sp>
      <p:pic>
        <p:nvPicPr>
          <p:cNvPr id="22" name="Picture 21">
            <a:extLst>
              <a:ext uri="{FF2B5EF4-FFF2-40B4-BE49-F238E27FC236}">
                <a16:creationId xmlns:a16="http://schemas.microsoft.com/office/drawing/2014/main" id="{36456AF1-646C-D90E-3668-0DEBE0B9E316}"/>
              </a:ext>
            </a:extLst>
          </p:cNvPr>
          <p:cNvPicPr>
            <a:picLocks noChangeAspect="1"/>
          </p:cNvPicPr>
          <p:nvPr/>
        </p:nvPicPr>
        <p:blipFill>
          <a:blip r:embed="rId3"/>
          <a:stretch>
            <a:fillRect/>
          </a:stretch>
        </p:blipFill>
        <p:spPr>
          <a:xfrm>
            <a:off x="2192110" y="1284286"/>
            <a:ext cx="3211666" cy="3293622"/>
          </a:xfrm>
          <a:prstGeom prst="rect">
            <a:avLst/>
          </a:prstGeom>
        </p:spPr>
      </p:pic>
      <p:pic>
        <p:nvPicPr>
          <p:cNvPr id="24" name="Picture 23">
            <a:extLst>
              <a:ext uri="{FF2B5EF4-FFF2-40B4-BE49-F238E27FC236}">
                <a16:creationId xmlns:a16="http://schemas.microsoft.com/office/drawing/2014/main" id="{6D763BC7-E5FD-395F-05AB-C99703D938A1}"/>
              </a:ext>
            </a:extLst>
          </p:cNvPr>
          <p:cNvPicPr>
            <a:picLocks noChangeAspect="1"/>
          </p:cNvPicPr>
          <p:nvPr/>
        </p:nvPicPr>
        <p:blipFill>
          <a:blip r:embed="rId4"/>
          <a:stretch>
            <a:fillRect/>
          </a:stretch>
        </p:blipFill>
        <p:spPr>
          <a:xfrm>
            <a:off x="6472315" y="1235758"/>
            <a:ext cx="3243184" cy="3293623"/>
          </a:xfrm>
          <a:prstGeom prst="rect">
            <a:avLst/>
          </a:prstGeom>
        </p:spPr>
      </p:pic>
    </p:spTree>
    <p:extLst>
      <p:ext uri="{BB962C8B-B14F-4D97-AF65-F5344CB8AC3E}">
        <p14:creationId xmlns:p14="http://schemas.microsoft.com/office/powerpoint/2010/main" val="16037779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45794-902B-E81B-EC51-D52DAECEFF3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0DE98DC-E5CD-D18F-E965-10A87B1A9A19}"/>
              </a:ext>
            </a:extLst>
          </p:cNvPr>
          <p:cNvSpPr/>
          <p:nvPr/>
        </p:nvSpPr>
        <p:spPr>
          <a:xfrm>
            <a:off x="502920" y="566927"/>
            <a:ext cx="8046720" cy="411480"/>
          </a:xfrm>
          <a:prstGeom prst="rect">
            <a:avLst/>
          </a:prstGeom>
          <a:noFill/>
          <a:ln/>
        </p:spPr>
        <p:txBody>
          <a:bodyPr wrap="square" lIns="0" tIns="0" rIns="0" bIns="0" rtlCol="0" anchor="ctr"/>
          <a:lstStyle/>
          <a:p>
            <a:r>
              <a:rPr lang="en-US" sz="2600" b="1" dirty="0">
                <a:solidFill>
                  <a:srgbClr val="17324D"/>
                </a:solidFill>
                <a:latin typeface="Aptos Display" pitchFamily="34" charset="0"/>
                <a:ea typeface="Aptos Display" pitchFamily="34" charset="-122"/>
                <a:cs typeface="Aptos Display" pitchFamily="34" charset="-120"/>
              </a:rPr>
              <a:t>12 kg LEU Geometry Near Criticality</a:t>
            </a:r>
            <a:endParaRPr lang="en-US" sz="2600" dirty="0"/>
          </a:p>
        </p:txBody>
      </p:sp>
      <p:sp>
        <p:nvSpPr>
          <p:cNvPr id="4" name="Shape 2">
            <a:extLst>
              <a:ext uri="{FF2B5EF4-FFF2-40B4-BE49-F238E27FC236}">
                <a16:creationId xmlns:a16="http://schemas.microsoft.com/office/drawing/2014/main" id="{963CC875-FD34-21F1-7A4D-C5579202A15C}"/>
              </a:ext>
            </a:extLst>
          </p:cNvPr>
          <p:cNvSpPr/>
          <p:nvPr/>
        </p:nvSpPr>
        <p:spPr>
          <a:xfrm>
            <a:off x="502920" y="1033272"/>
            <a:ext cx="11155680" cy="0"/>
          </a:xfrm>
          <a:prstGeom prst="line">
            <a:avLst/>
          </a:prstGeom>
          <a:noFill/>
          <a:ln w="15240">
            <a:solidFill>
              <a:srgbClr val="DCEBFA"/>
            </a:solidFill>
            <a:prstDash val="solid"/>
          </a:ln>
        </p:spPr>
        <p:txBody>
          <a:bodyPr/>
          <a:lstStyle/>
          <a:p>
            <a:endParaRPr lang="en-US"/>
          </a:p>
        </p:txBody>
      </p:sp>
      <p:sp>
        <p:nvSpPr>
          <p:cNvPr id="16" name="Text 14">
            <a:extLst>
              <a:ext uri="{FF2B5EF4-FFF2-40B4-BE49-F238E27FC236}">
                <a16:creationId xmlns:a16="http://schemas.microsoft.com/office/drawing/2014/main" id="{2A3B0C79-6E9C-DEE4-A9F7-BF314F42D803}"/>
              </a:ext>
            </a:extLst>
          </p:cNvPr>
          <p:cNvSpPr/>
          <p:nvPr/>
        </p:nvSpPr>
        <p:spPr>
          <a:xfrm>
            <a:off x="502919" y="4584247"/>
            <a:ext cx="10906393" cy="2072585"/>
          </a:xfrm>
          <a:prstGeom prst="rect">
            <a:avLst/>
          </a:prstGeom>
          <a:noFill/>
          <a:ln/>
        </p:spPr>
        <p:txBody>
          <a:bodyPr wrap="square" lIns="0" tIns="0" rIns="0" bIns="0" rtlCol="0" anchor="ctr"/>
          <a:lstStyle/>
          <a:p>
            <a:pPr algn="ctr">
              <a:lnSpc>
                <a:spcPct val="150000"/>
              </a:lnSpc>
            </a:pPr>
            <a:r>
              <a:rPr lang="en-US" dirty="0"/>
              <a:t>The geometry depicted above uses 12 kg of LEU estimating </a:t>
            </a:r>
            <a:r>
              <a:rPr lang="en-US" b="1" dirty="0" err="1">
                <a:solidFill>
                  <a:srgbClr val="1C2430"/>
                </a:solidFill>
              </a:rPr>
              <a:t>k</a:t>
            </a:r>
            <a:r>
              <a:rPr lang="en-US" b="1" baseline="-25000" dirty="0" err="1">
                <a:solidFill>
                  <a:srgbClr val="1C2430"/>
                </a:solidFill>
              </a:rPr>
              <a:t>eff</a:t>
            </a:r>
            <a:r>
              <a:rPr lang="en-US" b="1" dirty="0">
                <a:solidFill>
                  <a:srgbClr val="1C2430"/>
                </a:solidFill>
              </a:rPr>
              <a:t> = 0.991</a:t>
            </a:r>
            <a:r>
              <a:rPr lang="en-US" dirty="0"/>
              <a:t> and </a:t>
            </a:r>
            <a:r>
              <a:rPr lang="en-US" b="1" dirty="0">
                <a:solidFill>
                  <a:srgbClr val="1C2430"/>
                </a:solidFill>
              </a:rPr>
              <a:t>σ = 0.0008</a:t>
            </a:r>
            <a:r>
              <a:rPr lang="en-US" dirty="0"/>
              <a:t>. It involves four 60 mm thick and 42 cm tall LEU shells with 4 cm of water spaced between them. It also does not use LEU on the top and bottom portions of the shells. </a:t>
            </a:r>
          </a:p>
          <a:p>
            <a:r>
              <a:rPr lang="en-US" dirty="0"/>
              <a:t>.</a:t>
            </a:r>
          </a:p>
        </p:txBody>
      </p:sp>
      <p:pic>
        <p:nvPicPr>
          <p:cNvPr id="5" name="Picture 4">
            <a:extLst>
              <a:ext uri="{FF2B5EF4-FFF2-40B4-BE49-F238E27FC236}">
                <a16:creationId xmlns:a16="http://schemas.microsoft.com/office/drawing/2014/main" id="{9A338C3B-BE15-B584-67E6-52159B25F392}"/>
              </a:ext>
            </a:extLst>
          </p:cNvPr>
          <p:cNvPicPr>
            <a:picLocks noChangeAspect="1"/>
          </p:cNvPicPr>
          <p:nvPr/>
        </p:nvPicPr>
        <p:blipFill>
          <a:blip r:embed="rId3"/>
          <a:stretch>
            <a:fillRect/>
          </a:stretch>
        </p:blipFill>
        <p:spPr>
          <a:xfrm>
            <a:off x="1661433" y="1506042"/>
            <a:ext cx="3181622" cy="2625085"/>
          </a:xfrm>
          <a:prstGeom prst="rect">
            <a:avLst/>
          </a:prstGeom>
        </p:spPr>
      </p:pic>
      <p:pic>
        <p:nvPicPr>
          <p:cNvPr id="7" name="Picture 6">
            <a:extLst>
              <a:ext uri="{FF2B5EF4-FFF2-40B4-BE49-F238E27FC236}">
                <a16:creationId xmlns:a16="http://schemas.microsoft.com/office/drawing/2014/main" id="{F44FCB85-5E7C-F7DF-32F7-6F9E1BB1486D}"/>
              </a:ext>
            </a:extLst>
          </p:cNvPr>
          <p:cNvPicPr>
            <a:picLocks noChangeAspect="1"/>
          </p:cNvPicPr>
          <p:nvPr/>
        </p:nvPicPr>
        <p:blipFill>
          <a:blip r:embed="rId4"/>
          <a:stretch>
            <a:fillRect/>
          </a:stretch>
        </p:blipFill>
        <p:spPr>
          <a:xfrm>
            <a:off x="7210089" y="1503033"/>
            <a:ext cx="2591136" cy="2628094"/>
          </a:xfrm>
          <a:prstGeom prst="rect">
            <a:avLst/>
          </a:prstGeom>
        </p:spPr>
      </p:pic>
    </p:spTree>
    <p:extLst>
      <p:ext uri="{BB962C8B-B14F-4D97-AF65-F5344CB8AC3E}">
        <p14:creationId xmlns:p14="http://schemas.microsoft.com/office/powerpoint/2010/main" val="1289957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74320"/>
            <a:ext cx="8046720" cy="411480"/>
          </a:xfrm>
          <a:prstGeom prst="rect">
            <a:avLst/>
          </a:prstGeom>
          <a:noFill/>
          <a:ln/>
        </p:spPr>
        <p:txBody>
          <a:bodyPr wrap="square" lIns="0" tIns="0" rIns="0" bIns="0" rtlCol="0" anchor="ctr"/>
          <a:lstStyle/>
          <a:p>
            <a:pPr marL="0" indent="0">
              <a:buNone/>
            </a:pPr>
            <a:r>
              <a:rPr lang="en-US" sz="2600" b="1" dirty="0">
                <a:solidFill>
                  <a:srgbClr val="17324D"/>
                </a:solidFill>
                <a:latin typeface="Aptos Display" pitchFamily="34" charset="0"/>
              </a:rPr>
              <a:t>Conclusion</a:t>
            </a:r>
            <a:endParaRPr lang="en-US" sz="2600" dirty="0"/>
          </a:p>
        </p:txBody>
      </p:sp>
      <p:sp>
        <p:nvSpPr>
          <p:cNvPr id="4" name="Shape 2"/>
          <p:cNvSpPr/>
          <p:nvPr/>
        </p:nvSpPr>
        <p:spPr>
          <a:xfrm>
            <a:off x="502920" y="1033272"/>
            <a:ext cx="11155680" cy="0"/>
          </a:xfrm>
          <a:prstGeom prst="line">
            <a:avLst/>
          </a:prstGeom>
          <a:noFill/>
          <a:ln w="15240">
            <a:solidFill>
              <a:srgbClr val="DCEBFA"/>
            </a:solidFill>
            <a:prstDash val="solid"/>
          </a:ln>
        </p:spPr>
        <p:txBody>
          <a:bodyPr/>
          <a:lstStyle/>
          <a:p>
            <a:endParaRPr lang="en-US"/>
          </a:p>
        </p:txBody>
      </p:sp>
      <p:sp>
        <p:nvSpPr>
          <p:cNvPr id="5" name="Text 3"/>
          <p:cNvSpPr/>
          <p:nvPr/>
        </p:nvSpPr>
        <p:spPr>
          <a:xfrm>
            <a:off x="822960" y="1417320"/>
            <a:ext cx="6492240" cy="3474720"/>
          </a:xfrm>
          <a:prstGeom prst="rect">
            <a:avLst/>
          </a:prstGeom>
          <a:noFill/>
          <a:ln/>
        </p:spPr>
        <p:txBody>
          <a:bodyPr wrap="square" lIns="635" tIns="635" rIns="635" bIns="635" rtlCol="0" anchor="ctr">
            <a:normAutofit/>
          </a:bodyPr>
          <a:lstStyle/>
          <a:p>
            <a:r>
              <a:rPr lang="en-US" dirty="0"/>
              <a:t>Using cylinders, we were able to model a geometry that yields </a:t>
            </a:r>
            <a:r>
              <a:rPr lang="en-US" b="1" dirty="0" err="1">
                <a:solidFill>
                  <a:srgbClr val="1C2430"/>
                </a:solidFill>
              </a:rPr>
              <a:t>k</a:t>
            </a:r>
            <a:r>
              <a:rPr lang="en-US" b="1" baseline="-25000" dirty="0" err="1">
                <a:solidFill>
                  <a:srgbClr val="1C2430"/>
                </a:solidFill>
              </a:rPr>
              <a:t>eff</a:t>
            </a:r>
            <a:r>
              <a:rPr lang="en-US" b="1" dirty="0">
                <a:solidFill>
                  <a:srgbClr val="1C2430"/>
                </a:solidFill>
              </a:rPr>
              <a:t> = 1.0386</a:t>
            </a:r>
            <a:r>
              <a:rPr lang="en-US" dirty="0"/>
              <a:t> and </a:t>
            </a:r>
            <a:r>
              <a:rPr lang="en-US" b="1" dirty="0">
                <a:solidFill>
                  <a:srgbClr val="1C2430"/>
                </a:solidFill>
              </a:rPr>
              <a:t>σ = 0.0006</a:t>
            </a:r>
            <a:r>
              <a:rPr lang="en-US" dirty="0"/>
              <a:t>. We were also able to produce a geometry using only 12 kg of LEU that yields </a:t>
            </a:r>
            <a:r>
              <a:rPr lang="en-US" b="1" dirty="0" err="1">
                <a:solidFill>
                  <a:srgbClr val="1C2430"/>
                </a:solidFill>
              </a:rPr>
              <a:t>k</a:t>
            </a:r>
            <a:r>
              <a:rPr lang="en-US" b="1" baseline="-25000" dirty="0" err="1">
                <a:solidFill>
                  <a:srgbClr val="1C2430"/>
                </a:solidFill>
              </a:rPr>
              <a:t>eff</a:t>
            </a:r>
            <a:r>
              <a:rPr lang="en-US" b="1" dirty="0">
                <a:solidFill>
                  <a:srgbClr val="1C2430"/>
                </a:solidFill>
              </a:rPr>
              <a:t> = 0.991</a:t>
            </a:r>
            <a:r>
              <a:rPr lang="en-US" dirty="0"/>
              <a:t> and </a:t>
            </a:r>
            <a:r>
              <a:rPr lang="en-US" b="1" dirty="0">
                <a:solidFill>
                  <a:srgbClr val="1C2430"/>
                </a:solidFill>
              </a:rPr>
              <a:t>σ = 0.0008</a:t>
            </a:r>
            <a:r>
              <a:rPr lang="en-US" dirty="0"/>
              <a:t>. This supports the possibility of creating an efficient and safe neutron source with 18 kg of LEU.</a:t>
            </a:r>
          </a:p>
        </p:txBody>
      </p:sp>
      <p:sp>
        <p:nvSpPr>
          <p:cNvPr id="3" name="TextBox 2">
            <a:extLst>
              <a:ext uri="{FF2B5EF4-FFF2-40B4-BE49-F238E27FC236}">
                <a16:creationId xmlns:a16="http://schemas.microsoft.com/office/drawing/2014/main" id="{808702D2-4A6C-1B5B-B553-110C9C791FA3}"/>
              </a:ext>
            </a:extLst>
          </p:cNvPr>
          <p:cNvSpPr txBox="1"/>
          <p:nvPr/>
        </p:nvSpPr>
        <p:spPr>
          <a:xfrm>
            <a:off x="822960" y="5304367"/>
            <a:ext cx="8913707" cy="646331"/>
          </a:xfrm>
          <a:prstGeom prst="rect">
            <a:avLst/>
          </a:prstGeom>
          <a:noFill/>
        </p:spPr>
        <p:txBody>
          <a:bodyPr wrap="square" rtlCol="0">
            <a:spAutoFit/>
          </a:bodyPr>
          <a:lstStyle/>
          <a:p>
            <a:r>
              <a:rPr lang="en-US" dirty="0"/>
              <a:t>Acknowledgments: Dr. Marie Blatnik taught me how to use the MCNP code and explained concepts like the chain reactions to 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6fecaf8-3dc0-4d2c-b8b8-eff0ddea46f0}" enabled="0" method="" siteId="{66fecaf8-3dc0-4d2c-b8b8-eff0ddea46f0}" removed="1"/>
</clbl:labelList>
</file>

<file path=docProps/app.xml><?xml version="1.0" encoding="utf-8"?>
<Properties xmlns="http://schemas.openxmlformats.org/officeDocument/2006/extended-properties" xmlns:vt="http://schemas.openxmlformats.org/officeDocument/2006/docPropsVTypes">
  <TotalTime>352</TotalTime>
  <Words>1680</Words>
  <Application>Microsoft Office PowerPoint</Application>
  <PresentationFormat>Widescreen</PresentationFormat>
  <Paragraphs>155</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 Display</vt:lpstr>
      <vt:lpstr>Arial</vt:lpstr>
      <vt:lpstr>Cambria Math</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MCNP Neutron Source Criticality Study</dc:title>
  <dc:subject>20-minute presentation organized from uploaded writeup</dc:subject>
  <dc:creator>OpenAI</dc:creator>
  <cp:lastModifiedBy>Griggs, William (wcgriggs42)</cp:lastModifiedBy>
  <cp:revision>3</cp:revision>
  <dcterms:created xsi:type="dcterms:W3CDTF">2026-05-05T16:04:50Z</dcterms:created>
  <dcterms:modified xsi:type="dcterms:W3CDTF">2026-05-06T18:27:06Z</dcterms:modified>
</cp:coreProperties>
</file>